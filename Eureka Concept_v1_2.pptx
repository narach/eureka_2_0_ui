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06" r:id="rId2"/>
    <p:sldId id="315" r:id="rId3"/>
    <p:sldId id="326" r:id="rId4"/>
    <p:sldId id="313" r:id="rId5"/>
    <p:sldId id="327" r:id="rId6"/>
    <p:sldId id="328" r:id="rId7"/>
    <p:sldId id="301" r:id="rId8"/>
    <p:sldId id="32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D35A37-1210-B6A9-19E4-AB3D8F7215EF}" name="Pavel Tiutiunnik" initials="PT" userId="S::Pavel_Tiutiunnik@epam.com::9fa4b7a1-219a-4a73-abea-09535be757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>
        <p:guide orient="horz" pos="336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085C1-7D3F-4178-8699-D5DC044A7EA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16914-AC15-4580-AAF4-6153C1C15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34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FCEA4-72F9-1482-3828-E7FEEC08B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05C2E5-2E04-CFBC-CBEE-413B47602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62589-0F55-FEBC-3561-A638049625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DC224-9F6B-1BC6-9935-50D0CCA181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16914-AC15-4580-AAF4-6153C1C15B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318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3D7A4-44BD-2289-5C2D-5957519AE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F82980-6122-6FB1-8165-9093BFF8F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657FF4-5A05-28C4-9543-B60988229F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74873-87CC-24AC-C6CB-775B98F8D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16914-AC15-4580-AAF4-6153C1C15B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6705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2466B-CFA4-48E7-5598-FA4CE9AA9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CECFD-11EE-5798-BB6E-9E3691F1F8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A63E5A-94F5-8C19-3ED1-0D8A445274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FD5D3-0ABC-F2C7-719C-BC86A1998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16914-AC15-4580-AAF4-6153C1C15B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33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64C3-C225-A242-7609-E9A312E57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8D906-A267-2C9D-1158-D94DC927B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56FA7-424B-EA43-C3E5-7B25CA1D6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1D03F-696C-1B8D-0C33-CEB007774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16914-AC15-4580-AAF4-6153C1C15B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00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12E44-C27F-F3C0-5C73-ACBB31BEA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D8607-9C0D-A38E-AD8B-E82416D43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D3EF9-9A6C-1A2B-780C-4EF959FF8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8183D-2120-0AB9-0511-FDFEB022C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16914-AC15-4580-AAF4-6153C1C15B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814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88393-9EEE-CAB3-97C7-0AB2C3887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24B2D-7F94-F3C2-4577-0AAFA60A4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284FD-5945-1E43-DC5D-25CD893BE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79127-1170-46D6-F126-16CEAA8C1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387E1-32C7-AA08-BB2B-EA74D71F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202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2EC6E-8A36-6788-A0CA-AEFCF8C42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A16CB-460B-F4B9-F410-4E969810A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867B2-5DB8-75DB-EED9-6EE3EE20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42A3A-AEC4-6EB8-2287-392282A26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87C03-0A83-F883-CEBD-3E3BFF144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56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152A-9669-9AE0-39C5-A0C2511AC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E90DC-EF2D-871E-BC23-194914092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9AA87-E515-49DF-1CAF-C788B470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C9702-9ACE-8977-1D56-DAD7CD56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0D129-DF82-59BA-4E90-2F9C46AD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55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84511-3412-DE9C-A7ED-90F856A5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15B3F-5970-C7DB-D470-C87A412C1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E9C2EF-CF9D-9EB1-8155-681A716B5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3E4A9-FDCD-8C08-5BA5-70F6FC558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9A695-569F-DBAB-3D71-382E2118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91661-5D6F-0E34-4216-831162AED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8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3EB89-6B4A-DB05-8D09-94ECD8BA2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1C4D0-7B42-08FF-7025-32B973FD2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004961-8041-C5C1-2F20-8CB9078BB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72F3BF-1E31-7BB1-6FC7-CC050A658E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BE2BF-D7F4-686B-2D05-4118ED2A1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042070-F025-A690-1806-C68859CAD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95AB46-267B-DB72-7B5C-6A66D97B7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874689-CBA8-1312-CC87-9DBC9D00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91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2626F-1AD4-A46E-FB26-F434E1023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550977-7757-8DE2-9364-B4BADCBA0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679C51-01D2-456A-F73D-6991457C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A58B3-BEDA-8548-20DC-C3789911A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167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840F7E-26A6-44E1-5F02-DB653F56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0EC5CE-8479-6714-7FAF-8ECF1814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2F3ED-7D7A-4328-2440-1487325DB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546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73436-EDA7-7DEE-6644-8A6EC6915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AEBBA-91E1-66E1-C070-05EEEC2589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633F0-7F29-4D70-420D-1F5A3096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2219F-15EC-64E0-A134-C63221FE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CF5554-E5F4-23A9-4568-2263144E5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6708E-BD67-EDA0-051A-2EF5DEC7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7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05B22-E33B-5293-FFB6-D1E23291D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12621-9826-895E-A73D-24764CEC7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5EE00-218A-DB8E-8204-433415CA56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EF7B4-9ABD-EF51-F673-D806560A8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BB3E94-9CC1-114E-E9BF-22B594780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2F665-641F-5F65-F4D6-19B41FFD1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081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F45C7-0056-5FA7-DA0B-F2604A73C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53693B-B5AF-39D4-D52B-97373F5D95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F4A7D-E8BC-6479-3737-E7C255692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DF022-4284-7376-3137-DCC24C4A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4686A-2741-64C3-D737-E99D6A66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130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ECE6C-8A34-44C1-DD83-4EB9EBECC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7124B-1ED2-4922-9560-CAEBF7AC4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C840A-101C-7406-75F5-60825DC0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33E41-D8F2-31F8-2EF8-13AC05B94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7412F-853B-B2FA-A44A-C6427DB5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913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BEA0CF-AE41-0050-8019-91D7AA61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B6087-3B0A-A4DC-10E0-9EDC91421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6739F-3B4A-74E8-803B-259375F53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71911-9D99-43DB-A0E9-76A5E884F431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37A45-B7AE-A81E-30E7-6B8F73007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1C622-0373-3EB3-8F49-5F0B3472F8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C252F-4FAD-4F03-85BA-9E524BF517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91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guides.library.ucdavis.edu/systematic-reviews/levels-of-evidence#:~:text=The%20hierarchy%20of%20evidence%20(also,the%20base%20of%20the%20pyramid.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D0C0-CFD3-39F7-5D02-E5930AF9C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21A22-03D7-23D3-A680-46F3414FE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/>
              <a:t>Делаем</a:t>
            </a:r>
            <a:br>
              <a:rPr lang="en-US" sz="4000"/>
            </a:br>
            <a:r>
              <a:rPr lang="en-US" sz="4000"/>
              <a:t>V1.2</a:t>
            </a:r>
          </a:p>
        </p:txBody>
      </p:sp>
    </p:spTree>
    <p:extLst>
      <p:ext uri="{BB962C8B-B14F-4D97-AF65-F5344CB8AC3E}">
        <p14:creationId xmlns:p14="http://schemas.microsoft.com/office/powerpoint/2010/main" val="2459031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D24EC-DE63-564C-BD7C-14980953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33289DF-A326-BB1B-B76A-6F15E3583CA1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D23901-B5DD-8B36-B7BD-A8A4749151EA}"/>
              </a:ext>
            </a:extLst>
          </p:cNvPr>
          <p:cNvSpPr/>
          <p:nvPr/>
        </p:nvSpPr>
        <p:spPr>
          <a:xfrm>
            <a:off x="2137109" y="1645405"/>
            <a:ext cx="1229032" cy="5309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Obesity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3135483-8E95-DE4A-BF60-308B7BB95CDC}"/>
              </a:ext>
            </a:extLst>
          </p:cNvPr>
          <p:cNvCxnSpPr>
            <a:cxnSpLocks/>
            <a:stCxn id="44" idx="2"/>
            <a:endCxn id="50" idx="0"/>
          </p:cNvCxnSpPr>
          <p:nvPr/>
        </p:nvCxnSpPr>
        <p:spPr>
          <a:xfrm>
            <a:off x="2751625" y="2176347"/>
            <a:ext cx="3553" cy="4562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0551791-9309-AD8F-9E1E-95D225D25753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755178" y="3152119"/>
            <a:ext cx="0" cy="480319"/>
          </a:xfrm>
          <a:prstGeom prst="line">
            <a:avLst/>
          </a:prstGeom>
          <a:ln w="25400">
            <a:solidFill>
              <a:srgbClr val="FFC00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B1B45BD-5A82-91C4-3DA9-3D068B882534}"/>
              </a:ext>
            </a:extLst>
          </p:cNvPr>
          <p:cNvSpPr/>
          <p:nvPr/>
        </p:nvSpPr>
        <p:spPr>
          <a:xfrm>
            <a:off x="2140662" y="2632639"/>
            <a:ext cx="1229032" cy="5309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GLP-1 receptor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9E93380-96BC-F8F0-7957-D8AC91DAA6BA}"/>
              </a:ext>
            </a:extLst>
          </p:cNvPr>
          <p:cNvSpPr/>
          <p:nvPr/>
        </p:nvSpPr>
        <p:spPr>
          <a:xfrm>
            <a:off x="2140662" y="3632438"/>
            <a:ext cx="1229032" cy="5309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3DF447A-7E57-AD98-17C1-9DAD1F49A346}"/>
              </a:ext>
            </a:extLst>
          </p:cNvPr>
          <p:cNvSpPr/>
          <p:nvPr/>
        </p:nvSpPr>
        <p:spPr>
          <a:xfrm>
            <a:off x="5461943" y="336872"/>
            <a:ext cx="3048489" cy="649666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8238158-4278-4283-099C-1F7AB15B589A}"/>
              </a:ext>
            </a:extLst>
          </p:cNvPr>
          <p:cNvSpPr/>
          <p:nvPr/>
        </p:nvSpPr>
        <p:spPr>
          <a:xfrm>
            <a:off x="8510431" y="336872"/>
            <a:ext cx="3488559" cy="649798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AD372E14-F95E-0368-9138-946AF1F96DA3}"/>
              </a:ext>
            </a:extLst>
          </p:cNvPr>
          <p:cNvSpPr/>
          <p:nvPr/>
        </p:nvSpPr>
        <p:spPr>
          <a:xfrm rot="19212016">
            <a:off x="2720817" y="1362401"/>
            <a:ext cx="4084859" cy="1275106"/>
          </a:xfrm>
          <a:prstGeom prst="arc">
            <a:avLst>
              <a:gd name="adj1" fmla="val 11801595"/>
              <a:gd name="adj2" fmla="val 0"/>
            </a:avLst>
          </a:prstGeom>
          <a:ln w="9525">
            <a:solidFill>
              <a:schemeClr val="accent6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79A930-889F-FA38-7082-58BCE07A001F}"/>
              </a:ext>
            </a:extLst>
          </p:cNvPr>
          <p:cNvSpPr/>
          <p:nvPr/>
        </p:nvSpPr>
        <p:spPr>
          <a:xfrm>
            <a:off x="8632892" y="982142"/>
            <a:ext cx="2886115" cy="113551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3C4B0C4-CE14-2717-B360-B502357F46F9}"/>
              </a:ext>
            </a:extLst>
          </p:cNvPr>
          <p:cNvGrpSpPr/>
          <p:nvPr/>
        </p:nvGrpSpPr>
        <p:grpSpPr>
          <a:xfrm>
            <a:off x="-878214" y="1916766"/>
            <a:ext cx="352474" cy="1686160"/>
            <a:chOff x="22276" y="1939392"/>
            <a:chExt cx="352474" cy="168616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D131AFB-1AE4-2660-F416-C55ABA596986}"/>
                </a:ext>
              </a:extLst>
            </p:cNvPr>
            <p:cNvGrpSpPr/>
            <p:nvPr/>
          </p:nvGrpSpPr>
          <p:grpSpPr>
            <a:xfrm>
              <a:off x="22276" y="1939392"/>
              <a:ext cx="352474" cy="1686160"/>
              <a:chOff x="22276" y="1939392"/>
              <a:chExt cx="352474" cy="1686160"/>
            </a:xfrm>
          </p:grpSpPr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B4B78416-9346-EC4B-BA0D-EBADD204A3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76" y="1939392"/>
                <a:ext cx="352474" cy="1686160"/>
              </a:xfrm>
              <a:prstGeom prst="rect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9808FC0-2570-B197-7ACE-DF83AE4B0F85}"/>
                  </a:ext>
                </a:extLst>
              </p:cNvPr>
              <p:cNvSpPr/>
              <p:nvPr/>
            </p:nvSpPr>
            <p:spPr>
              <a:xfrm>
                <a:off x="123825" y="3344518"/>
                <a:ext cx="199416" cy="2368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0A71AE7-31A7-7F3B-F4EF-F6196D27AAD9}"/>
                </a:ext>
              </a:extLst>
            </p:cNvPr>
            <p:cNvCxnSpPr>
              <a:stCxn id="16" idx="1"/>
              <a:endCxn id="16" idx="3"/>
            </p:cNvCxnSpPr>
            <p:nvPr/>
          </p:nvCxnSpPr>
          <p:spPr>
            <a:xfrm>
              <a:off x="123825" y="3462935"/>
              <a:ext cx="1994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23A6ED6-5861-F3F0-1277-4879AF1B31A9}"/>
              </a:ext>
            </a:extLst>
          </p:cNvPr>
          <p:cNvSpPr txBox="1"/>
          <p:nvPr/>
        </p:nvSpPr>
        <p:spPr>
          <a:xfrm>
            <a:off x="193009" y="135231"/>
            <a:ext cx="5099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Scenario 1: Research Existing Hypothesis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FFFB40F-0388-8A7F-25F6-8A64E0D83173}"/>
              </a:ext>
            </a:extLst>
          </p:cNvPr>
          <p:cNvSpPr/>
          <p:nvPr/>
        </p:nvSpPr>
        <p:spPr>
          <a:xfrm>
            <a:off x="11851915" y="990786"/>
            <a:ext cx="88186" cy="5694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30FA138-01B0-2722-C559-9AA02AF30E3D}"/>
              </a:ext>
            </a:extLst>
          </p:cNvPr>
          <p:cNvSpPr txBox="1"/>
          <p:nvPr/>
        </p:nvSpPr>
        <p:spPr>
          <a:xfrm>
            <a:off x="10853264" y="699955"/>
            <a:ext cx="997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</a:t>
            </a:r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| </a:t>
            </a:r>
            <a:r>
              <a:rPr lang="en-US" sz="90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Favorites</a:t>
            </a:r>
            <a:endParaRPr lang="en-US" sz="90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9F76290-8400-8A55-57EE-AEAA1146953D}"/>
              </a:ext>
            </a:extLst>
          </p:cNvPr>
          <p:cNvSpPr txBox="1"/>
          <p:nvPr/>
        </p:nvSpPr>
        <p:spPr>
          <a:xfrm>
            <a:off x="5576684" y="741966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Selected hypothesis</a:t>
            </a:r>
            <a:endParaRPr lang="en-US" sz="90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E4A87AD-9D92-262C-58F2-F03CC9EC5124}"/>
              </a:ext>
            </a:extLst>
          </p:cNvPr>
          <p:cNvSpPr/>
          <p:nvPr/>
        </p:nvSpPr>
        <p:spPr>
          <a:xfrm>
            <a:off x="5649361" y="1898552"/>
            <a:ext cx="2682165" cy="209088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EB7AF967-851A-971D-FE23-9AF093D083B3}"/>
              </a:ext>
            </a:extLst>
          </p:cNvPr>
          <p:cNvSpPr/>
          <p:nvPr/>
        </p:nvSpPr>
        <p:spPr>
          <a:xfrm>
            <a:off x="5636315" y="4326313"/>
            <a:ext cx="2635264" cy="297143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5910B33-DB61-5064-9EBB-9F2886E6CF0B}"/>
              </a:ext>
            </a:extLst>
          </p:cNvPr>
          <p:cNvSpPr/>
          <p:nvPr/>
        </p:nvSpPr>
        <p:spPr>
          <a:xfrm>
            <a:off x="5636315" y="981387"/>
            <a:ext cx="1769490" cy="21756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0AFB2D3A-6B69-3365-72E9-AFB2E44BC10E}"/>
              </a:ext>
            </a:extLst>
          </p:cNvPr>
          <p:cNvSpPr txBox="1"/>
          <p:nvPr/>
        </p:nvSpPr>
        <p:spPr>
          <a:xfrm>
            <a:off x="5667018" y="962357"/>
            <a:ext cx="1331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GLP-1 receptor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0955CC73-D65F-5CA8-655D-C8F9936C9D39}"/>
              </a:ext>
            </a:extLst>
          </p:cNvPr>
          <p:cNvSpPr txBox="1"/>
          <p:nvPr/>
        </p:nvSpPr>
        <p:spPr>
          <a:xfrm>
            <a:off x="5589153" y="1630893"/>
            <a:ext cx="2333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Full hypothesis text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1D0DCDF-6738-58E6-68CB-1E2CB8A67C4E}"/>
              </a:ext>
            </a:extLst>
          </p:cNvPr>
          <p:cNvSpPr txBox="1"/>
          <p:nvPr/>
        </p:nvSpPr>
        <p:spPr>
          <a:xfrm>
            <a:off x="5670351" y="1897237"/>
            <a:ext cx="2524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(Ozempic) exerts its metabolic and organ-protective effects primarily via activation of GLP-1 receptors in peripheral and central tissues, engaging canonical cAMP/PKA signaling to modulate insulin secretion, appetite, and tissue protection.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A38CEAE-C120-C1AA-5292-5F0FB90471A9}"/>
              </a:ext>
            </a:extLst>
          </p:cNvPr>
          <p:cNvSpPr txBox="1"/>
          <p:nvPr/>
        </p:nvSpPr>
        <p:spPr>
          <a:xfrm>
            <a:off x="5571980" y="4081361"/>
            <a:ext cx="2333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Status</a:t>
            </a:r>
            <a:endParaRPr lang="en-US" sz="90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Isosceles Triangle 114">
            <a:extLst>
              <a:ext uri="{FF2B5EF4-FFF2-40B4-BE49-F238E27FC236}">
                <a16:creationId xmlns:a16="http://schemas.microsoft.com/office/drawing/2014/main" id="{66EA598D-4A23-EFF8-A1FE-46BA863D2D95}"/>
              </a:ext>
            </a:extLst>
          </p:cNvPr>
          <p:cNvSpPr/>
          <p:nvPr/>
        </p:nvSpPr>
        <p:spPr>
          <a:xfrm rot="10800000">
            <a:off x="8138770" y="4460302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045BDA5-2DBB-11B9-72DC-5FD790D465F0}"/>
              </a:ext>
            </a:extLst>
          </p:cNvPr>
          <p:cNvSpPr txBox="1"/>
          <p:nvPr/>
        </p:nvSpPr>
        <p:spPr>
          <a:xfrm>
            <a:off x="5571980" y="4727070"/>
            <a:ext cx="24774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Relevancy threshold, %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5DFB5262-DF62-FD6A-611A-147B47ECA4F9}"/>
              </a:ext>
            </a:extLst>
          </p:cNvPr>
          <p:cNvSpPr/>
          <p:nvPr/>
        </p:nvSpPr>
        <p:spPr>
          <a:xfrm>
            <a:off x="5638921" y="5010828"/>
            <a:ext cx="2646852" cy="117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32254CD9-3CDA-B0DB-8A82-0DE39CC31EEE}"/>
              </a:ext>
            </a:extLst>
          </p:cNvPr>
          <p:cNvSpPr/>
          <p:nvPr/>
        </p:nvSpPr>
        <p:spPr>
          <a:xfrm>
            <a:off x="5642170" y="5559416"/>
            <a:ext cx="2646852" cy="117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11E4B4D-7985-D8F6-411A-97134033E10F}"/>
              </a:ext>
            </a:extLst>
          </p:cNvPr>
          <p:cNvSpPr/>
          <p:nvPr/>
        </p:nvSpPr>
        <p:spPr>
          <a:xfrm>
            <a:off x="7491860" y="979245"/>
            <a:ext cx="845973" cy="21970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A29CFA01-61FD-E282-4F5F-01070D216298}"/>
              </a:ext>
            </a:extLst>
          </p:cNvPr>
          <p:cNvSpPr/>
          <p:nvPr/>
        </p:nvSpPr>
        <p:spPr>
          <a:xfrm>
            <a:off x="5657850" y="1336282"/>
            <a:ext cx="1745248" cy="21592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06255FEC-EB58-EB64-A327-3781DDB05D1F}"/>
              </a:ext>
            </a:extLst>
          </p:cNvPr>
          <p:cNvSpPr/>
          <p:nvPr/>
        </p:nvSpPr>
        <p:spPr>
          <a:xfrm>
            <a:off x="7492115" y="1338703"/>
            <a:ext cx="845974" cy="20766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6073F50-E956-CCCA-1660-3E425C3929EB}"/>
              </a:ext>
            </a:extLst>
          </p:cNvPr>
          <p:cNvSpPr txBox="1"/>
          <p:nvPr/>
        </p:nvSpPr>
        <p:spPr>
          <a:xfrm>
            <a:off x="5657850" y="1312835"/>
            <a:ext cx="8694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133" name="Isosceles Triangle 132">
            <a:extLst>
              <a:ext uri="{FF2B5EF4-FFF2-40B4-BE49-F238E27FC236}">
                <a16:creationId xmlns:a16="http://schemas.microsoft.com/office/drawing/2014/main" id="{126948FC-AB5A-07D7-C9E8-04A95E59C361}"/>
              </a:ext>
            </a:extLst>
          </p:cNvPr>
          <p:cNvSpPr/>
          <p:nvPr/>
        </p:nvSpPr>
        <p:spPr>
          <a:xfrm rot="10800000">
            <a:off x="8193837" y="1045438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Isosceles Triangle 133">
            <a:extLst>
              <a:ext uri="{FF2B5EF4-FFF2-40B4-BE49-F238E27FC236}">
                <a16:creationId xmlns:a16="http://schemas.microsoft.com/office/drawing/2014/main" id="{30578FD4-94B8-42FE-69B0-9E299368C7CC}"/>
              </a:ext>
            </a:extLst>
          </p:cNvPr>
          <p:cNvSpPr/>
          <p:nvPr/>
        </p:nvSpPr>
        <p:spPr>
          <a:xfrm rot="10800000">
            <a:off x="8203036" y="1414654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7274920-B226-A091-8077-ECF3A03CB0C2}"/>
              </a:ext>
            </a:extLst>
          </p:cNvPr>
          <p:cNvSpPr txBox="1"/>
          <p:nvPr/>
        </p:nvSpPr>
        <p:spPr>
          <a:xfrm>
            <a:off x="7451689" y="982169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target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D45D347-A339-719D-292C-86559235118B}"/>
              </a:ext>
            </a:extLst>
          </p:cNvPr>
          <p:cNvSpPr txBox="1"/>
          <p:nvPr/>
        </p:nvSpPr>
        <p:spPr>
          <a:xfrm>
            <a:off x="7469761" y="1314303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drug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8AA47A21-E0D5-74C8-DEB7-5BA59FC02CB7}"/>
              </a:ext>
            </a:extLst>
          </p:cNvPr>
          <p:cNvSpPr/>
          <p:nvPr/>
        </p:nvSpPr>
        <p:spPr>
          <a:xfrm>
            <a:off x="7496401" y="412645"/>
            <a:ext cx="845973" cy="1870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new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517095F-1E83-B197-FC05-37955AA0CB2F}"/>
              </a:ext>
            </a:extLst>
          </p:cNvPr>
          <p:cNvSpPr txBox="1"/>
          <p:nvPr/>
        </p:nvSpPr>
        <p:spPr>
          <a:xfrm>
            <a:off x="5540111" y="343799"/>
            <a:ext cx="150801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Research Panel</a:t>
            </a:r>
            <a:endParaRPr lang="en-US" sz="105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Flowchart: Connector 140">
            <a:extLst>
              <a:ext uri="{FF2B5EF4-FFF2-40B4-BE49-F238E27FC236}">
                <a16:creationId xmlns:a16="http://schemas.microsoft.com/office/drawing/2014/main" id="{E391A06B-AE60-CEED-5D9A-752687461F43}"/>
              </a:ext>
            </a:extLst>
          </p:cNvPr>
          <p:cNvSpPr/>
          <p:nvPr/>
        </p:nvSpPr>
        <p:spPr>
          <a:xfrm>
            <a:off x="6014438" y="5533632"/>
            <a:ext cx="145539" cy="14505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FD137E1-098D-F315-684A-68375009FFA8}"/>
              </a:ext>
            </a:extLst>
          </p:cNvPr>
          <p:cNvSpPr/>
          <p:nvPr/>
        </p:nvSpPr>
        <p:spPr>
          <a:xfrm>
            <a:off x="11577419" y="44787"/>
            <a:ext cx="378594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D4670B-55D2-2C1A-72A9-302D9C163A89}"/>
              </a:ext>
            </a:extLst>
          </p:cNvPr>
          <p:cNvSpPr/>
          <p:nvPr/>
        </p:nvSpPr>
        <p:spPr>
          <a:xfrm>
            <a:off x="9995025" y="-956"/>
            <a:ext cx="2007869" cy="2861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2C86CD86-4C57-E96D-BD4B-F2CB924A56B5}"/>
              </a:ext>
            </a:extLst>
          </p:cNvPr>
          <p:cNvSpPr/>
          <p:nvPr/>
        </p:nvSpPr>
        <p:spPr>
          <a:xfrm>
            <a:off x="11647358" y="49824"/>
            <a:ext cx="168943" cy="170813"/>
          </a:xfrm>
          <a:prstGeom prst="flowChart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B1739D3C-E690-292F-D081-9A1252A21954}"/>
              </a:ext>
            </a:extLst>
          </p:cNvPr>
          <p:cNvSpPr/>
          <p:nvPr/>
        </p:nvSpPr>
        <p:spPr>
          <a:xfrm rot="10800000">
            <a:off x="11842126" y="113580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CEF1788-9F24-6E29-54AC-17C6DC630B0F}"/>
              </a:ext>
            </a:extLst>
          </p:cNvPr>
          <p:cNvSpPr/>
          <p:nvPr/>
        </p:nvSpPr>
        <p:spPr>
          <a:xfrm>
            <a:off x="11077667" y="48141"/>
            <a:ext cx="507350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F8396E-B884-F5FF-04EC-C20A0F1D0492}"/>
              </a:ext>
            </a:extLst>
          </p:cNvPr>
          <p:cNvSpPr/>
          <p:nvPr/>
        </p:nvSpPr>
        <p:spPr>
          <a:xfrm>
            <a:off x="10073005" y="46103"/>
            <a:ext cx="972203" cy="187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Panel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8DA8E-DF2B-993E-C872-3B246FBED864}"/>
              </a:ext>
            </a:extLst>
          </p:cNvPr>
          <p:cNvSpPr txBox="1"/>
          <p:nvPr/>
        </p:nvSpPr>
        <p:spPr>
          <a:xfrm>
            <a:off x="8579493" y="703921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Search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867B29-9378-3382-A37A-36730E1F9F35}"/>
              </a:ext>
            </a:extLst>
          </p:cNvPr>
          <p:cNvSpPr txBox="1"/>
          <p:nvPr/>
        </p:nvSpPr>
        <p:spPr>
          <a:xfrm>
            <a:off x="5648892" y="4341626"/>
            <a:ext cx="19109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99B2C3-33B6-ED34-F698-250CC6A93901}"/>
              </a:ext>
            </a:extLst>
          </p:cNvPr>
          <p:cNvCxnSpPr>
            <a:cxnSpLocks/>
          </p:cNvCxnSpPr>
          <p:nvPr/>
        </p:nvCxnSpPr>
        <p:spPr>
          <a:xfrm flipV="1">
            <a:off x="6602758" y="1198952"/>
            <a:ext cx="0" cy="13733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8D1925D-03ED-780F-404F-10233A521D70}"/>
              </a:ext>
            </a:extLst>
          </p:cNvPr>
          <p:cNvSpPr/>
          <p:nvPr/>
        </p:nvSpPr>
        <p:spPr>
          <a:xfrm>
            <a:off x="8611443" y="5533631"/>
            <a:ext cx="3144951" cy="114992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0AE951-B2C2-B5C2-28DD-7D30E44EA0F4}"/>
              </a:ext>
            </a:extLst>
          </p:cNvPr>
          <p:cNvSpPr txBox="1"/>
          <p:nvPr/>
        </p:nvSpPr>
        <p:spPr>
          <a:xfrm>
            <a:off x="8548571" y="5263291"/>
            <a:ext cx="639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Notes</a:t>
            </a:r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45B945-F598-6434-16E0-9F4E4E63E306}"/>
              </a:ext>
            </a:extLst>
          </p:cNvPr>
          <p:cNvSpPr/>
          <p:nvPr/>
        </p:nvSpPr>
        <p:spPr>
          <a:xfrm>
            <a:off x="11842126" y="979244"/>
            <a:ext cx="113887" cy="4203421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76EFD0-5349-49D3-4639-208F3C661811}"/>
              </a:ext>
            </a:extLst>
          </p:cNvPr>
          <p:cNvSpPr txBox="1"/>
          <p:nvPr/>
        </p:nvSpPr>
        <p:spPr>
          <a:xfrm>
            <a:off x="5530290" y="5129501"/>
            <a:ext cx="3616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ru-RU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2D8CFC-2F21-BCD6-A594-6621C5F0DACC}"/>
              </a:ext>
            </a:extLst>
          </p:cNvPr>
          <p:cNvSpPr txBox="1"/>
          <p:nvPr/>
        </p:nvSpPr>
        <p:spPr>
          <a:xfrm>
            <a:off x="8085550" y="5120796"/>
            <a:ext cx="4184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100</a:t>
            </a:r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78F083-ADDB-FE8C-096B-364A97C59110}"/>
              </a:ext>
            </a:extLst>
          </p:cNvPr>
          <p:cNvSpPr txBox="1"/>
          <p:nvPr/>
        </p:nvSpPr>
        <p:spPr>
          <a:xfrm>
            <a:off x="7034890" y="5136907"/>
            <a:ext cx="3937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70</a:t>
            </a:r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F330CE-693A-8446-36A7-1F6453984EB4}"/>
              </a:ext>
            </a:extLst>
          </p:cNvPr>
          <p:cNvSpPr txBox="1"/>
          <p:nvPr/>
        </p:nvSpPr>
        <p:spPr>
          <a:xfrm>
            <a:off x="5568704" y="5304777"/>
            <a:ext cx="93305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Citation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08DB59B-4073-016C-03E8-E110F5DE43E0}"/>
              </a:ext>
            </a:extLst>
          </p:cNvPr>
          <p:cNvSpPr txBox="1"/>
          <p:nvPr/>
        </p:nvSpPr>
        <p:spPr>
          <a:xfrm>
            <a:off x="5611000" y="6305631"/>
            <a:ext cx="9162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English only</a:t>
            </a:r>
          </a:p>
        </p:txBody>
      </p:sp>
      <p:sp>
        <p:nvSpPr>
          <p:cNvPr id="64" name="Flowchart: Process 63">
            <a:extLst>
              <a:ext uri="{FF2B5EF4-FFF2-40B4-BE49-F238E27FC236}">
                <a16:creationId xmlns:a16="http://schemas.microsoft.com/office/drawing/2014/main" id="{28A5A761-EB3F-0A81-C8FA-529CD6A0518A}"/>
              </a:ext>
            </a:extLst>
          </p:cNvPr>
          <p:cNvSpPr/>
          <p:nvPr/>
        </p:nvSpPr>
        <p:spPr>
          <a:xfrm>
            <a:off x="6568711" y="6365416"/>
            <a:ext cx="144072" cy="148785"/>
          </a:xfrm>
          <a:prstGeom prst="flowChartProcess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255197-8B20-0888-B7C2-D1870562EB0F}"/>
              </a:ext>
            </a:extLst>
          </p:cNvPr>
          <p:cNvSpPr txBox="1"/>
          <p:nvPr/>
        </p:nvSpPr>
        <p:spPr>
          <a:xfrm>
            <a:off x="5598043" y="6039694"/>
            <a:ext cx="15688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Include related searches</a:t>
            </a:r>
          </a:p>
        </p:txBody>
      </p:sp>
      <p:sp>
        <p:nvSpPr>
          <p:cNvPr id="66" name="Flowchart: Process 65">
            <a:extLst>
              <a:ext uri="{FF2B5EF4-FFF2-40B4-BE49-F238E27FC236}">
                <a16:creationId xmlns:a16="http://schemas.microsoft.com/office/drawing/2014/main" id="{7C422438-3623-C709-2845-32CACA2856C4}"/>
              </a:ext>
            </a:extLst>
          </p:cNvPr>
          <p:cNvSpPr/>
          <p:nvPr/>
        </p:nvSpPr>
        <p:spPr>
          <a:xfrm>
            <a:off x="7181034" y="6075653"/>
            <a:ext cx="144072" cy="148785"/>
          </a:xfrm>
          <a:prstGeom prst="flowChartProcess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339BD2F-1429-15C4-4253-B2907ABB2474}"/>
              </a:ext>
            </a:extLst>
          </p:cNvPr>
          <p:cNvSpPr/>
          <p:nvPr/>
        </p:nvSpPr>
        <p:spPr>
          <a:xfrm>
            <a:off x="11539814" y="982453"/>
            <a:ext cx="251414" cy="1134072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DEE9C70-8CB4-1C43-0601-CFE1CC8CC4A4}"/>
              </a:ext>
            </a:extLst>
          </p:cNvPr>
          <p:cNvSpPr txBox="1"/>
          <p:nvPr/>
        </p:nvSpPr>
        <p:spPr>
          <a:xfrm>
            <a:off x="5558111" y="5689897"/>
            <a:ext cx="30119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0   1</a:t>
            </a:r>
            <a:r>
              <a:rPr lang="ru-RU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20    30    40     50     60    70    80    90    100</a:t>
            </a:r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3D53761B-F16A-AE1F-17C7-967B72F63EDB}"/>
              </a:ext>
            </a:extLst>
          </p:cNvPr>
          <p:cNvSpPr/>
          <p:nvPr/>
        </p:nvSpPr>
        <p:spPr>
          <a:xfrm>
            <a:off x="7100181" y="4993124"/>
            <a:ext cx="145539" cy="14505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9E8FE758-A619-E9C5-C8B4-428925B20CFB}"/>
              </a:ext>
            </a:extLst>
          </p:cNvPr>
          <p:cNvGrpSpPr/>
          <p:nvPr/>
        </p:nvGrpSpPr>
        <p:grpSpPr>
          <a:xfrm rot="2838479">
            <a:off x="11791753" y="402259"/>
            <a:ext cx="113344" cy="117771"/>
            <a:chOff x="2648269" y="5208104"/>
            <a:chExt cx="193061" cy="218661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CFF05F55-F42D-9E8D-C9A3-768E2094A0D2}"/>
                </a:ext>
              </a:extLst>
            </p:cNvPr>
            <p:cNvCxnSpPr/>
            <p:nvPr/>
          </p:nvCxnSpPr>
          <p:spPr>
            <a:xfrm>
              <a:off x="2749848" y="5208104"/>
              <a:ext cx="0" cy="21866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258B0E51-FC0C-FDEF-AF00-393B1F951E15}"/>
                </a:ext>
              </a:extLst>
            </p:cNvPr>
            <p:cNvCxnSpPr>
              <a:cxnSpLocks/>
            </p:cNvCxnSpPr>
            <p:nvPr/>
          </p:nvCxnSpPr>
          <p:spPr>
            <a:xfrm>
              <a:off x="2648269" y="5321895"/>
              <a:ext cx="19306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16933A1-B529-F861-6C0D-2ABE223583CF}"/>
              </a:ext>
            </a:extLst>
          </p:cNvPr>
          <p:cNvSpPr txBox="1"/>
          <p:nvPr/>
        </p:nvSpPr>
        <p:spPr>
          <a:xfrm>
            <a:off x="8630642" y="990786"/>
            <a:ext cx="28484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Peptide 1 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A… (+3)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6BC3962C-63A8-AA51-1853-F4A955A3E71B}"/>
              </a:ext>
            </a:extLst>
          </p:cNvPr>
          <p:cNvSpPr/>
          <p:nvPr/>
        </p:nvSpPr>
        <p:spPr>
          <a:xfrm>
            <a:off x="8624693" y="2158522"/>
            <a:ext cx="2886115" cy="113551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E60F2DEA-2A2D-10F9-F849-BD461CDC4EE1}"/>
              </a:ext>
            </a:extLst>
          </p:cNvPr>
          <p:cNvSpPr/>
          <p:nvPr/>
        </p:nvSpPr>
        <p:spPr>
          <a:xfrm>
            <a:off x="11530847" y="2158821"/>
            <a:ext cx="251414" cy="1134072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E0F37208-C7AE-D10A-D9A4-803765B8A217}"/>
              </a:ext>
            </a:extLst>
          </p:cNvPr>
          <p:cNvSpPr/>
          <p:nvPr/>
        </p:nvSpPr>
        <p:spPr>
          <a:xfrm>
            <a:off x="8616281" y="3343680"/>
            <a:ext cx="2886115" cy="113551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D4C59F6D-85FD-3EBC-ABFE-34ACBF1239EF}"/>
              </a:ext>
            </a:extLst>
          </p:cNvPr>
          <p:cNvSpPr/>
          <p:nvPr/>
        </p:nvSpPr>
        <p:spPr>
          <a:xfrm>
            <a:off x="11521651" y="3344399"/>
            <a:ext cx="251414" cy="1134072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C78EC81-5EC1-3C06-FC30-E6CC5EA120E1}"/>
              </a:ext>
            </a:extLst>
          </p:cNvPr>
          <p:cNvSpPr txBox="1"/>
          <p:nvPr/>
        </p:nvSpPr>
        <p:spPr>
          <a:xfrm>
            <a:off x="8604071" y="2137238"/>
            <a:ext cx="28484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aglucagon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like  peptide-1 receptor agonist with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 glucagon like peptide-1 receptor…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F306440-F0B2-9349-4720-E994C73FDF8F}"/>
              </a:ext>
            </a:extLst>
          </p:cNvPr>
          <p:cNvSpPr txBox="1"/>
          <p:nvPr/>
        </p:nvSpPr>
        <p:spPr>
          <a:xfrm>
            <a:off x="8620469" y="3335416"/>
            <a:ext cx="28484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Peptide 1 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A… (+3)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348578C-A1EF-5A89-7EC0-B531FA017E75}"/>
              </a:ext>
            </a:extLst>
          </p:cNvPr>
          <p:cNvSpPr/>
          <p:nvPr/>
        </p:nvSpPr>
        <p:spPr>
          <a:xfrm>
            <a:off x="8619263" y="4538445"/>
            <a:ext cx="2886115" cy="643407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9A23552-9EF7-F2FD-6781-06DB29074472}"/>
              </a:ext>
            </a:extLst>
          </p:cNvPr>
          <p:cNvSpPr/>
          <p:nvPr/>
        </p:nvSpPr>
        <p:spPr>
          <a:xfrm>
            <a:off x="11527830" y="4539164"/>
            <a:ext cx="251414" cy="646699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66B915F-4A84-E187-D106-20B3987B57E1}"/>
              </a:ext>
            </a:extLst>
          </p:cNvPr>
          <p:cNvSpPr txBox="1"/>
          <p:nvPr/>
        </p:nvSpPr>
        <p:spPr>
          <a:xfrm>
            <a:off x="8636239" y="4546166"/>
            <a:ext cx="28484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Peptide 1 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A… (+3)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US" sz="80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567F492-9991-00C1-73B5-A3C6CAC0DEFA}"/>
              </a:ext>
            </a:extLst>
          </p:cNvPr>
          <p:cNvSpPr txBox="1"/>
          <p:nvPr/>
        </p:nvSpPr>
        <p:spPr>
          <a:xfrm>
            <a:off x="9924011" y="4866989"/>
            <a:ext cx="3932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D002E5A0-671E-42E0-5AD8-A097EBCFDCED}"/>
              </a:ext>
            </a:extLst>
          </p:cNvPr>
          <p:cNvSpPr/>
          <p:nvPr/>
        </p:nvSpPr>
        <p:spPr>
          <a:xfrm>
            <a:off x="10794060" y="2462832"/>
            <a:ext cx="962334" cy="2150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to Favorites</a:t>
            </a:r>
          </a:p>
        </p:txBody>
      </p:sp>
    </p:spTree>
    <p:extLst>
      <p:ext uri="{BB962C8B-B14F-4D97-AF65-F5344CB8AC3E}">
        <p14:creationId xmlns:p14="http://schemas.microsoft.com/office/powerpoint/2010/main" val="3848766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67CE3-3BCF-10E9-5055-41A79B00F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41C0BF4-3FA8-E54A-8C9D-96BB991C8530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7E9CE2E-F3F4-3706-B175-12BB425EE353}"/>
              </a:ext>
            </a:extLst>
          </p:cNvPr>
          <p:cNvSpPr/>
          <p:nvPr/>
        </p:nvSpPr>
        <p:spPr>
          <a:xfrm>
            <a:off x="2137109" y="1645405"/>
            <a:ext cx="1229032" cy="5309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Obesity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9C767CD-D5F2-692B-D526-1FCD059A07C3}"/>
              </a:ext>
            </a:extLst>
          </p:cNvPr>
          <p:cNvCxnSpPr>
            <a:cxnSpLocks/>
            <a:stCxn id="44" idx="2"/>
            <a:endCxn id="50" idx="0"/>
          </p:cNvCxnSpPr>
          <p:nvPr/>
        </p:nvCxnSpPr>
        <p:spPr>
          <a:xfrm>
            <a:off x="2751625" y="2176347"/>
            <a:ext cx="3553" cy="4562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49FADF4-AB99-51B9-2987-77FA7028FF76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755178" y="3152119"/>
            <a:ext cx="0" cy="480319"/>
          </a:xfrm>
          <a:prstGeom prst="line">
            <a:avLst/>
          </a:prstGeom>
          <a:ln w="25400">
            <a:solidFill>
              <a:srgbClr val="FFC000"/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1CD3DF1-738D-8AB8-5CAF-7B783809FB12}"/>
              </a:ext>
            </a:extLst>
          </p:cNvPr>
          <p:cNvSpPr/>
          <p:nvPr/>
        </p:nvSpPr>
        <p:spPr>
          <a:xfrm>
            <a:off x="2140662" y="2632639"/>
            <a:ext cx="1229032" cy="5309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GLP-1 receptor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F5A71C9-8E3F-74F6-F100-03FDD7BB779A}"/>
              </a:ext>
            </a:extLst>
          </p:cNvPr>
          <p:cNvSpPr/>
          <p:nvPr/>
        </p:nvSpPr>
        <p:spPr>
          <a:xfrm>
            <a:off x="2140662" y="3632438"/>
            <a:ext cx="1229032" cy="5309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3EF7382-7FD7-BC88-8C09-9FA7F78F676B}"/>
              </a:ext>
            </a:extLst>
          </p:cNvPr>
          <p:cNvSpPr/>
          <p:nvPr/>
        </p:nvSpPr>
        <p:spPr>
          <a:xfrm>
            <a:off x="5461943" y="336872"/>
            <a:ext cx="3048489" cy="649666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65757E0-8DFD-1FB6-D734-0B99F7C1D3AF}"/>
              </a:ext>
            </a:extLst>
          </p:cNvPr>
          <p:cNvSpPr/>
          <p:nvPr/>
        </p:nvSpPr>
        <p:spPr>
          <a:xfrm>
            <a:off x="8510431" y="336872"/>
            <a:ext cx="3488559" cy="649798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137FF470-F30A-F168-903E-A54E69FC5783}"/>
              </a:ext>
            </a:extLst>
          </p:cNvPr>
          <p:cNvSpPr/>
          <p:nvPr/>
        </p:nvSpPr>
        <p:spPr>
          <a:xfrm rot="19212016">
            <a:off x="2720817" y="1362401"/>
            <a:ext cx="4084859" cy="1275106"/>
          </a:xfrm>
          <a:prstGeom prst="arc">
            <a:avLst>
              <a:gd name="adj1" fmla="val 11801595"/>
              <a:gd name="adj2" fmla="val 0"/>
            </a:avLst>
          </a:prstGeom>
          <a:ln w="9525">
            <a:solidFill>
              <a:schemeClr val="accent6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65200DA-E453-963D-ADF2-9CA20FE84BD0}"/>
              </a:ext>
            </a:extLst>
          </p:cNvPr>
          <p:cNvSpPr/>
          <p:nvPr/>
        </p:nvSpPr>
        <p:spPr>
          <a:xfrm>
            <a:off x="8632892" y="982142"/>
            <a:ext cx="2886115" cy="113551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6A32727-0DEE-72B4-3FC1-60BBF04882C6}"/>
              </a:ext>
            </a:extLst>
          </p:cNvPr>
          <p:cNvGrpSpPr/>
          <p:nvPr/>
        </p:nvGrpSpPr>
        <p:grpSpPr>
          <a:xfrm>
            <a:off x="-878214" y="1916766"/>
            <a:ext cx="352474" cy="1686160"/>
            <a:chOff x="22276" y="1939392"/>
            <a:chExt cx="352474" cy="168616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667CF2E-294C-D5D4-F027-6B6C6C266F5B}"/>
                </a:ext>
              </a:extLst>
            </p:cNvPr>
            <p:cNvGrpSpPr/>
            <p:nvPr/>
          </p:nvGrpSpPr>
          <p:grpSpPr>
            <a:xfrm>
              <a:off x="22276" y="1939392"/>
              <a:ext cx="352474" cy="1686160"/>
              <a:chOff x="22276" y="1939392"/>
              <a:chExt cx="352474" cy="1686160"/>
            </a:xfrm>
          </p:grpSpPr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1B91231C-3860-DBAC-CA11-74C27B430C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76" y="1939392"/>
                <a:ext cx="352474" cy="1686160"/>
              </a:xfrm>
              <a:prstGeom prst="rect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</p:pic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C2864B2-3D25-01CB-B769-5A6B990313BA}"/>
                  </a:ext>
                </a:extLst>
              </p:cNvPr>
              <p:cNvSpPr/>
              <p:nvPr/>
            </p:nvSpPr>
            <p:spPr>
              <a:xfrm>
                <a:off x="123825" y="3344518"/>
                <a:ext cx="199416" cy="23683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5C5F709-E894-493B-037B-31285725B198}"/>
                </a:ext>
              </a:extLst>
            </p:cNvPr>
            <p:cNvCxnSpPr>
              <a:stCxn id="16" idx="1"/>
              <a:endCxn id="16" idx="3"/>
            </p:cNvCxnSpPr>
            <p:nvPr/>
          </p:nvCxnSpPr>
          <p:spPr>
            <a:xfrm>
              <a:off x="123825" y="3462935"/>
              <a:ext cx="19941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AEFA241-D2CF-7143-5B4C-36FABC336EBF}"/>
              </a:ext>
            </a:extLst>
          </p:cNvPr>
          <p:cNvSpPr txBox="1"/>
          <p:nvPr/>
        </p:nvSpPr>
        <p:spPr>
          <a:xfrm>
            <a:off x="193009" y="135231"/>
            <a:ext cx="50998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Scenario 1: Research Existing Hypothesis 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2FC9BCCF-3881-54EC-B6DE-E843A1E7FA96}"/>
              </a:ext>
            </a:extLst>
          </p:cNvPr>
          <p:cNvSpPr/>
          <p:nvPr/>
        </p:nvSpPr>
        <p:spPr>
          <a:xfrm>
            <a:off x="11851915" y="990786"/>
            <a:ext cx="88186" cy="5694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35BAE1A-9E54-218E-2FC2-13AD1B32B490}"/>
              </a:ext>
            </a:extLst>
          </p:cNvPr>
          <p:cNvSpPr txBox="1"/>
          <p:nvPr/>
        </p:nvSpPr>
        <p:spPr>
          <a:xfrm>
            <a:off x="10853264" y="699955"/>
            <a:ext cx="997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</a:t>
            </a:r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| </a:t>
            </a:r>
            <a:r>
              <a:rPr lang="en-US" sz="9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Favorites</a:t>
            </a:r>
            <a:endParaRPr lang="en-US" sz="90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C43B93F6-8C5C-3935-6809-45AF54BB1570}"/>
              </a:ext>
            </a:extLst>
          </p:cNvPr>
          <p:cNvSpPr txBox="1"/>
          <p:nvPr/>
        </p:nvSpPr>
        <p:spPr>
          <a:xfrm>
            <a:off x="5576684" y="741966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Selected hypothesis</a:t>
            </a:r>
            <a:endParaRPr lang="en-US" sz="90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AC60487-078F-0D3D-D409-B82D08AE6658}"/>
              </a:ext>
            </a:extLst>
          </p:cNvPr>
          <p:cNvSpPr/>
          <p:nvPr/>
        </p:nvSpPr>
        <p:spPr>
          <a:xfrm>
            <a:off x="5649361" y="1898552"/>
            <a:ext cx="2682165" cy="209088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8597196C-18F1-F5A3-4B8F-60FF3D6361C8}"/>
              </a:ext>
            </a:extLst>
          </p:cNvPr>
          <p:cNvSpPr/>
          <p:nvPr/>
        </p:nvSpPr>
        <p:spPr>
          <a:xfrm>
            <a:off x="5636315" y="4326313"/>
            <a:ext cx="2635264" cy="297143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12A781B8-2D50-5841-9B97-0277AB05F4D1}"/>
              </a:ext>
            </a:extLst>
          </p:cNvPr>
          <p:cNvSpPr/>
          <p:nvPr/>
        </p:nvSpPr>
        <p:spPr>
          <a:xfrm>
            <a:off x="5636315" y="981387"/>
            <a:ext cx="1769490" cy="21756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4FC13ED2-5747-5482-908F-40DAC1AA1077}"/>
              </a:ext>
            </a:extLst>
          </p:cNvPr>
          <p:cNvSpPr txBox="1"/>
          <p:nvPr/>
        </p:nvSpPr>
        <p:spPr>
          <a:xfrm>
            <a:off x="5667018" y="962357"/>
            <a:ext cx="1331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GLP-1 receptor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74C628C-1646-620C-2E5E-C26B96E31F60}"/>
              </a:ext>
            </a:extLst>
          </p:cNvPr>
          <p:cNvSpPr txBox="1"/>
          <p:nvPr/>
        </p:nvSpPr>
        <p:spPr>
          <a:xfrm>
            <a:off x="5589153" y="1630893"/>
            <a:ext cx="2333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Full hypothesis text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136BA18-A9B3-F0F5-C03E-54BF85D20161}"/>
              </a:ext>
            </a:extLst>
          </p:cNvPr>
          <p:cNvSpPr txBox="1"/>
          <p:nvPr/>
        </p:nvSpPr>
        <p:spPr>
          <a:xfrm>
            <a:off x="5670351" y="1897237"/>
            <a:ext cx="2524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(Ozempic) exerts its metabolic and organ-protective effects primarily via activation of GLP-1 receptors in peripheral and central tissues, engaging canonical cAMP/PKA signaling to modulate insulin secretion, appetite, and tissue protection.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6E7D3D73-40FB-BDA6-0B22-99C170405EE7}"/>
              </a:ext>
            </a:extLst>
          </p:cNvPr>
          <p:cNvSpPr txBox="1"/>
          <p:nvPr/>
        </p:nvSpPr>
        <p:spPr>
          <a:xfrm>
            <a:off x="5571980" y="4081361"/>
            <a:ext cx="2333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Status</a:t>
            </a:r>
            <a:endParaRPr lang="en-US" sz="90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Isosceles Triangle 114">
            <a:extLst>
              <a:ext uri="{FF2B5EF4-FFF2-40B4-BE49-F238E27FC236}">
                <a16:creationId xmlns:a16="http://schemas.microsoft.com/office/drawing/2014/main" id="{1F951E57-EF44-F3B9-9CE5-BDAE8FD4B7DD}"/>
              </a:ext>
            </a:extLst>
          </p:cNvPr>
          <p:cNvSpPr/>
          <p:nvPr/>
        </p:nvSpPr>
        <p:spPr>
          <a:xfrm rot="10800000">
            <a:off x="8138770" y="4460302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C5F77DFD-F301-8494-FF4C-59896132C530}"/>
              </a:ext>
            </a:extLst>
          </p:cNvPr>
          <p:cNvSpPr txBox="1"/>
          <p:nvPr/>
        </p:nvSpPr>
        <p:spPr>
          <a:xfrm>
            <a:off x="5571980" y="4727070"/>
            <a:ext cx="24774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Relevancy threshold, %</a:t>
            </a: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44C2974A-5EA1-151B-B360-ED5E1D4E1FB1}"/>
              </a:ext>
            </a:extLst>
          </p:cNvPr>
          <p:cNvSpPr/>
          <p:nvPr/>
        </p:nvSpPr>
        <p:spPr>
          <a:xfrm>
            <a:off x="5638921" y="5010828"/>
            <a:ext cx="2646852" cy="117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1F9F462B-A553-7C2E-8BB3-9E5E8904C05B}"/>
              </a:ext>
            </a:extLst>
          </p:cNvPr>
          <p:cNvSpPr/>
          <p:nvPr/>
        </p:nvSpPr>
        <p:spPr>
          <a:xfrm>
            <a:off x="5642170" y="5559416"/>
            <a:ext cx="2646852" cy="117831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ABDE9C9C-834F-4BC6-26EF-5A3AFFCC9A2D}"/>
              </a:ext>
            </a:extLst>
          </p:cNvPr>
          <p:cNvSpPr/>
          <p:nvPr/>
        </p:nvSpPr>
        <p:spPr>
          <a:xfrm>
            <a:off x="7491860" y="979245"/>
            <a:ext cx="845973" cy="21970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E22D1DDC-F001-59EE-FD65-077ECED56F1A}"/>
              </a:ext>
            </a:extLst>
          </p:cNvPr>
          <p:cNvSpPr/>
          <p:nvPr/>
        </p:nvSpPr>
        <p:spPr>
          <a:xfrm>
            <a:off x="5657850" y="1336282"/>
            <a:ext cx="1745248" cy="21592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29B18DDE-E57D-11D4-F651-2F602FF84F10}"/>
              </a:ext>
            </a:extLst>
          </p:cNvPr>
          <p:cNvSpPr/>
          <p:nvPr/>
        </p:nvSpPr>
        <p:spPr>
          <a:xfrm>
            <a:off x="7492115" y="1338703"/>
            <a:ext cx="845974" cy="20766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A8407FDB-0C2D-2EF4-DA5C-A4E7C74FDC8B}"/>
              </a:ext>
            </a:extLst>
          </p:cNvPr>
          <p:cNvSpPr txBox="1"/>
          <p:nvPr/>
        </p:nvSpPr>
        <p:spPr>
          <a:xfrm>
            <a:off x="5657850" y="1312835"/>
            <a:ext cx="8694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133" name="Isosceles Triangle 132">
            <a:extLst>
              <a:ext uri="{FF2B5EF4-FFF2-40B4-BE49-F238E27FC236}">
                <a16:creationId xmlns:a16="http://schemas.microsoft.com/office/drawing/2014/main" id="{DB7FA9A1-5DE5-5D8E-2BC4-A53F65AA7AEE}"/>
              </a:ext>
            </a:extLst>
          </p:cNvPr>
          <p:cNvSpPr/>
          <p:nvPr/>
        </p:nvSpPr>
        <p:spPr>
          <a:xfrm rot="10800000">
            <a:off x="8193837" y="1045438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Isosceles Triangle 133">
            <a:extLst>
              <a:ext uri="{FF2B5EF4-FFF2-40B4-BE49-F238E27FC236}">
                <a16:creationId xmlns:a16="http://schemas.microsoft.com/office/drawing/2014/main" id="{DDC8BFC4-6DE1-29DE-F54E-200DB750C4C7}"/>
              </a:ext>
            </a:extLst>
          </p:cNvPr>
          <p:cNvSpPr/>
          <p:nvPr/>
        </p:nvSpPr>
        <p:spPr>
          <a:xfrm rot="10800000">
            <a:off x="8203036" y="1414654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296E157-192E-EF3D-141E-9B3E31B8BB00}"/>
              </a:ext>
            </a:extLst>
          </p:cNvPr>
          <p:cNvSpPr txBox="1"/>
          <p:nvPr/>
        </p:nvSpPr>
        <p:spPr>
          <a:xfrm>
            <a:off x="7451689" y="982169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target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EFB5C84-78B7-B1CF-474A-892305DEA9E3}"/>
              </a:ext>
            </a:extLst>
          </p:cNvPr>
          <p:cNvSpPr txBox="1"/>
          <p:nvPr/>
        </p:nvSpPr>
        <p:spPr>
          <a:xfrm>
            <a:off x="7469761" y="1314303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drug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25029C84-6A49-928F-D949-A97460215A9D}"/>
              </a:ext>
            </a:extLst>
          </p:cNvPr>
          <p:cNvSpPr/>
          <p:nvPr/>
        </p:nvSpPr>
        <p:spPr>
          <a:xfrm>
            <a:off x="7496401" y="412645"/>
            <a:ext cx="845973" cy="1870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new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A4B4916-755B-BC23-6EED-E51910AECE6A}"/>
              </a:ext>
            </a:extLst>
          </p:cNvPr>
          <p:cNvSpPr txBox="1"/>
          <p:nvPr/>
        </p:nvSpPr>
        <p:spPr>
          <a:xfrm>
            <a:off x="5540111" y="343799"/>
            <a:ext cx="150801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Research Panel</a:t>
            </a:r>
            <a:endParaRPr lang="en-US" sz="105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Flowchart: Connector 140">
            <a:extLst>
              <a:ext uri="{FF2B5EF4-FFF2-40B4-BE49-F238E27FC236}">
                <a16:creationId xmlns:a16="http://schemas.microsoft.com/office/drawing/2014/main" id="{2C433EE5-4F97-356C-3434-C53DEC240BE0}"/>
              </a:ext>
            </a:extLst>
          </p:cNvPr>
          <p:cNvSpPr/>
          <p:nvPr/>
        </p:nvSpPr>
        <p:spPr>
          <a:xfrm>
            <a:off x="6014438" y="5533632"/>
            <a:ext cx="145539" cy="14505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8C9D0DD-2481-4081-7D2A-072F7FA6DDD4}"/>
              </a:ext>
            </a:extLst>
          </p:cNvPr>
          <p:cNvSpPr/>
          <p:nvPr/>
        </p:nvSpPr>
        <p:spPr>
          <a:xfrm>
            <a:off x="11577419" y="44787"/>
            <a:ext cx="378594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C4F251-8823-5387-F031-57FB858B18E6}"/>
              </a:ext>
            </a:extLst>
          </p:cNvPr>
          <p:cNvSpPr/>
          <p:nvPr/>
        </p:nvSpPr>
        <p:spPr>
          <a:xfrm>
            <a:off x="9995025" y="-956"/>
            <a:ext cx="2007869" cy="2861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0C74852-92C1-5D96-F15F-2C956BE74402}"/>
              </a:ext>
            </a:extLst>
          </p:cNvPr>
          <p:cNvSpPr/>
          <p:nvPr/>
        </p:nvSpPr>
        <p:spPr>
          <a:xfrm>
            <a:off x="11647358" y="49824"/>
            <a:ext cx="168943" cy="170813"/>
          </a:xfrm>
          <a:prstGeom prst="flowChart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7C035B88-BDE3-4EE1-006A-30CB7EBD69E1}"/>
              </a:ext>
            </a:extLst>
          </p:cNvPr>
          <p:cNvSpPr/>
          <p:nvPr/>
        </p:nvSpPr>
        <p:spPr>
          <a:xfrm rot="10800000">
            <a:off x="11842126" y="113580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6DCFBE-17B0-2B66-7031-169FBA50BE72}"/>
              </a:ext>
            </a:extLst>
          </p:cNvPr>
          <p:cNvSpPr/>
          <p:nvPr/>
        </p:nvSpPr>
        <p:spPr>
          <a:xfrm>
            <a:off x="11077667" y="48141"/>
            <a:ext cx="507350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8AC406E-49E7-E3DE-9FAF-475D18CA7D13}"/>
              </a:ext>
            </a:extLst>
          </p:cNvPr>
          <p:cNvSpPr/>
          <p:nvPr/>
        </p:nvSpPr>
        <p:spPr>
          <a:xfrm>
            <a:off x="10073005" y="46103"/>
            <a:ext cx="972203" cy="187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Panel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1C442-1A83-1983-6E43-5FA4B4A14196}"/>
              </a:ext>
            </a:extLst>
          </p:cNvPr>
          <p:cNvSpPr txBox="1"/>
          <p:nvPr/>
        </p:nvSpPr>
        <p:spPr>
          <a:xfrm>
            <a:off x="8579493" y="703921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Search results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2AAE8-25E1-96FA-5D53-B3541F90C25D}"/>
              </a:ext>
            </a:extLst>
          </p:cNvPr>
          <p:cNvSpPr txBox="1"/>
          <p:nvPr/>
        </p:nvSpPr>
        <p:spPr>
          <a:xfrm>
            <a:off x="5648892" y="4341626"/>
            <a:ext cx="19109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Fact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0132BA6-294D-AFCB-74A6-91404E554B4A}"/>
              </a:ext>
            </a:extLst>
          </p:cNvPr>
          <p:cNvCxnSpPr>
            <a:cxnSpLocks/>
          </p:cNvCxnSpPr>
          <p:nvPr/>
        </p:nvCxnSpPr>
        <p:spPr>
          <a:xfrm flipV="1">
            <a:off x="6602758" y="1198952"/>
            <a:ext cx="0" cy="13733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32A3A5F4-0672-0F67-D382-2A11E1D85A59}"/>
              </a:ext>
            </a:extLst>
          </p:cNvPr>
          <p:cNvSpPr/>
          <p:nvPr/>
        </p:nvSpPr>
        <p:spPr>
          <a:xfrm>
            <a:off x="8611443" y="5533631"/>
            <a:ext cx="3144951" cy="114992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A3A7C0-B435-8C34-2AFD-675268F96E8B}"/>
              </a:ext>
            </a:extLst>
          </p:cNvPr>
          <p:cNvSpPr txBox="1"/>
          <p:nvPr/>
        </p:nvSpPr>
        <p:spPr>
          <a:xfrm>
            <a:off x="8548571" y="5263291"/>
            <a:ext cx="6390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Notes</a:t>
            </a:r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C1FC6F-5071-CF31-D70D-6E6569CFFD53}"/>
              </a:ext>
            </a:extLst>
          </p:cNvPr>
          <p:cNvSpPr/>
          <p:nvPr/>
        </p:nvSpPr>
        <p:spPr>
          <a:xfrm>
            <a:off x="11842126" y="979244"/>
            <a:ext cx="113887" cy="4203421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D48AF2C-5A9E-E7F6-3481-ADD74F5199D2}"/>
              </a:ext>
            </a:extLst>
          </p:cNvPr>
          <p:cNvSpPr txBox="1"/>
          <p:nvPr/>
        </p:nvSpPr>
        <p:spPr>
          <a:xfrm>
            <a:off x="5530290" y="5129501"/>
            <a:ext cx="3616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ru-RU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8BCEE1-B8FD-1D5A-4F2C-1790137DCF9E}"/>
              </a:ext>
            </a:extLst>
          </p:cNvPr>
          <p:cNvSpPr txBox="1"/>
          <p:nvPr/>
        </p:nvSpPr>
        <p:spPr>
          <a:xfrm>
            <a:off x="8085550" y="5120796"/>
            <a:ext cx="4184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100</a:t>
            </a:r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879ED6-7A0D-6A98-3297-66C0A9F0F5D6}"/>
              </a:ext>
            </a:extLst>
          </p:cNvPr>
          <p:cNvSpPr txBox="1"/>
          <p:nvPr/>
        </p:nvSpPr>
        <p:spPr>
          <a:xfrm>
            <a:off x="7034890" y="5136907"/>
            <a:ext cx="3937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70</a:t>
            </a:r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E91359-DF37-687D-E725-1822448BCE61}"/>
              </a:ext>
            </a:extLst>
          </p:cNvPr>
          <p:cNvSpPr txBox="1"/>
          <p:nvPr/>
        </p:nvSpPr>
        <p:spPr>
          <a:xfrm>
            <a:off x="5568704" y="5304777"/>
            <a:ext cx="93305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Citation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08E24BC-6AAD-B95F-621D-8FA9B8A1B078}"/>
              </a:ext>
            </a:extLst>
          </p:cNvPr>
          <p:cNvSpPr txBox="1"/>
          <p:nvPr/>
        </p:nvSpPr>
        <p:spPr>
          <a:xfrm>
            <a:off x="5611000" y="6305631"/>
            <a:ext cx="91629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English only</a:t>
            </a:r>
          </a:p>
        </p:txBody>
      </p:sp>
      <p:sp>
        <p:nvSpPr>
          <p:cNvPr id="64" name="Flowchart: Process 63">
            <a:extLst>
              <a:ext uri="{FF2B5EF4-FFF2-40B4-BE49-F238E27FC236}">
                <a16:creationId xmlns:a16="http://schemas.microsoft.com/office/drawing/2014/main" id="{02D205B9-37B8-21DD-BF4E-9A0AC0F387C5}"/>
              </a:ext>
            </a:extLst>
          </p:cNvPr>
          <p:cNvSpPr/>
          <p:nvPr/>
        </p:nvSpPr>
        <p:spPr>
          <a:xfrm>
            <a:off x="6568711" y="6365416"/>
            <a:ext cx="144072" cy="148785"/>
          </a:xfrm>
          <a:prstGeom prst="flowChartProcess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CA81987-DE11-2F1B-99BB-4F9B5F40A86E}"/>
              </a:ext>
            </a:extLst>
          </p:cNvPr>
          <p:cNvSpPr txBox="1"/>
          <p:nvPr/>
        </p:nvSpPr>
        <p:spPr>
          <a:xfrm>
            <a:off x="5598043" y="6039694"/>
            <a:ext cx="156882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Include related searches</a:t>
            </a:r>
          </a:p>
        </p:txBody>
      </p:sp>
      <p:sp>
        <p:nvSpPr>
          <p:cNvPr id="66" name="Flowchart: Process 65">
            <a:extLst>
              <a:ext uri="{FF2B5EF4-FFF2-40B4-BE49-F238E27FC236}">
                <a16:creationId xmlns:a16="http://schemas.microsoft.com/office/drawing/2014/main" id="{7A9C435A-B7FE-407D-7748-D627CE118140}"/>
              </a:ext>
            </a:extLst>
          </p:cNvPr>
          <p:cNvSpPr/>
          <p:nvPr/>
        </p:nvSpPr>
        <p:spPr>
          <a:xfrm>
            <a:off x="7181034" y="6075653"/>
            <a:ext cx="144072" cy="148785"/>
          </a:xfrm>
          <a:prstGeom prst="flowChartProcess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17F88A7-7F47-6CBC-05A6-239E08A6A31A}"/>
              </a:ext>
            </a:extLst>
          </p:cNvPr>
          <p:cNvSpPr/>
          <p:nvPr/>
        </p:nvSpPr>
        <p:spPr>
          <a:xfrm>
            <a:off x="11539814" y="982453"/>
            <a:ext cx="251414" cy="1134072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7491C4C-7085-4986-A81B-013A8B910493}"/>
              </a:ext>
            </a:extLst>
          </p:cNvPr>
          <p:cNvSpPr txBox="1"/>
          <p:nvPr/>
        </p:nvSpPr>
        <p:spPr>
          <a:xfrm>
            <a:off x="5558111" y="5689897"/>
            <a:ext cx="30119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0   1</a:t>
            </a:r>
            <a:r>
              <a:rPr lang="ru-RU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0</a:t>
            </a:r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 20    30    40     50     60    70    80    90    100</a:t>
            </a:r>
          </a:p>
        </p:txBody>
      </p:sp>
      <p:sp>
        <p:nvSpPr>
          <p:cNvPr id="84" name="Flowchart: Connector 83">
            <a:extLst>
              <a:ext uri="{FF2B5EF4-FFF2-40B4-BE49-F238E27FC236}">
                <a16:creationId xmlns:a16="http://schemas.microsoft.com/office/drawing/2014/main" id="{AA0DB911-7D0C-11A6-D8E4-ABD2BD032187}"/>
              </a:ext>
            </a:extLst>
          </p:cNvPr>
          <p:cNvSpPr/>
          <p:nvPr/>
        </p:nvSpPr>
        <p:spPr>
          <a:xfrm>
            <a:off x="7100181" y="4993124"/>
            <a:ext cx="145539" cy="145058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C7B5D499-80C6-17DF-C772-974783BF99CA}"/>
              </a:ext>
            </a:extLst>
          </p:cNvPr>
          <p:cNvGrpSpPr/>
          <p:nvPr/>
        </p:nvGrpSpPr>
        <p:grpSpPr>
          <a:xfrm rot="2838479">
            <a:off x="11791753" y="402259"/>
            <a:ext cx="113344" cy="117771"/>
            <a:chOff x="2648269" y="5208104"/>
            <a:chExt cx="193061" cy="218661"/>
          </a:xfrm>
        </p:grpSpPr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AA18761A-A0FD-68CA-F44C-90D04A01A85F}"/>
                </a:ext>
              </a:extLst>
            </p:cNvPr>
            <p:cNvCxnSpPr/>
            <p:nvPr/>
          </p:nvCxnSpPr>
          <p:spPr>
            <a:xfrm>
              <a:off x="2749848" y="5208104"/>
              <a:ext cx="0" cy="21866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85C034D-A83D-E215-31BC-92AA586537CB}"/>
                </a:ext>
              </a:extLst>
            </p:cNvPr>
            <p:cNvCxnSpPr>
              <a:cxnSpLocks/>
            </p:cNvCxnSpPr>
            <p:nvPr/>
          </p:nvCxnSpPr>
          <p:spPr>
            <a:xfrm>
              <a:off x="2648269" y="5321895"/>
              <a:ext cx="19306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D33E3914-CC9E-2EC3-62A6-5950FC35DCCF}"/>
              </a:ext>
            </a:extLst>
          </p:cNvPr>
          <p:cNvSpPr txBox="1"/>
          <p:nvPr/>
        </p:nvSpPr>
        <p:spPr>
          <a:xfrm>
            <a:off x="8630642" y="990786"/>
            <a:ext cx="28484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Peptide 1 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A… (+3)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DB3332A-D47A-5399-9DE3-0CFD169AD839}"/>
              </a:ext>
            </a:extLst>
          </p:cNvPr>
          <p:cNvSpPr/>
          <p:nvPr/>
        </p:nvSpPr>
        <p:spPr>
          <a:xfrm>
            <a:off x="8624693" y="2158522"/>
            <a:ext cx="2886115" cy="1135510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CD3BFD1-42CF-0AD5-D92F-0DB9976D78AE}"/>
              </a:ext>
            </a:extLst>
          </p:cNvPr>
          <p:cNvSpPr/>
          <p:nvPr/>
        </p:nvSpPr>
        <p:spPr>
          <a:xfrm>
            <a:off x="11530847" y="2158821"/>
            <a:ext cx="251414" cy="1134072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528BF1A-3A57-8FCF-4278-DCD2F55C902F}"/>
              </a:ext>
            </a:extLst>
          </p:cNvPr>
          <p:cNvSpPr txBox="1"/>
          <p:nvPr/>
        </p:nvSpPr>
        <p:spPr>
          <a:xfrm>
            <a:off x="8604071" y="2137238"/>
            <a:ext cx="28484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aglucagon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like  peptide-1 receptor agonist with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 glucagon like peptide-1 receptor…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</p:spTree>
    <p:extLst>
      <p:ext uri="{BB962C8B-B14F-4D97-AF65-F5344CB8AC3E}">
        <p14:creationId xmlns:p14="http://schemas.microsoft.com/office/powerpoint/2010/main" val="236032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8A79D-07D1-C6B1-2511-4FDB2EEF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214">
            <a:extLst>
              <a:ext uri="{FF2B5EF4-FFF2-40B4-BE49-F238E27FC236}">
                <a16:creationId xmlns:a16="http://schemas.microsoft.com/office/drawing/2014/main" id="{BAF2E3EF-0D66-9D13-196C-5F262DA17CA9}"/>
              </a:ext>
            </a:extLst>
          </p:cNvPr>
          <p:cNvSpPr/>
          <p:nvPr/>
        </p:nvSpPr>
        <p:spPr>
          <a:xfrm>
            <a:off x="8510431" y="336872"/>
            <a:ext cx="3488559" cy="649798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F7DD07C-DEFE-4224-C912-C262CB017E88}"/>
              </a:ext>
            </a:extLst>
          </p:cNvPr>
          <p:cNvSpPr/>
          <p:nvPr/>
        </p:nvSpPr>
        <p:spPr>
          <a:xfrm>
            <a:off x="5461943" y="336872"/>
            <a:ext cx="3048489" cy="649666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601861-A430-6EEA-76D9-808C33A5CA23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AD0137F-BED5-1DD7-A33E-486B6382AF5A}"/>
              </a:ext>
            </a:extLst>
          </p:cNvPr>
          <p:cNvSpPr/>
          <p:nvPr/>
        </p:nvSpPr>
        <p:spPr>
          <a:xfrm>
            <a:off x="2137109" y="1645405"/>
            <a:ext cx="1229032" cy="5309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Obesity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9ACC3F7-7EAC-3149-5818-D735D304269C}"/>
              </a:ext>
            </a:extLst>
          </p:cNvPr>
          <p:cNvCxnSpPr>
            <a:cxnSpLocks/>
            <a:stCxn id="44" idx="2"/>
            <a:endCxn id="50" idx="0"/>
          </p:cNvCxnSpPr>
          <p:nvPr/>
        </p:nvCxnSpPr>
        <p:spPr>
          <a:xfrm>
            <a:off x="2751625" y="2176347"/>
            <a:ext cx="3553" cy="4562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0C29D27-ADC8-E539-3E74-63F47447FFA4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755178" y="3152119"/>
            <a:ext cx="0" cy="480319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1F42C774-C425-556D-697B-660B749960F4}"/>
              </a:ext>
            </a:extLst>
          </p:cNvPr>
          <p:cNvSpPr/>
          <p:nvPr/>
        </p:nvSpPr>
        <p:spPr>
          <a:xfrm>
            <a:off x="2140662" y="2632639"/>
            <a:ext cx="1229032" cy="5309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GLP-1 receptor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27E25D0-EA3A-74A7-B076-AA09BE2CC9A1}"/>
              </a:ext>
            </a:extLst>
          </p:cNvPr>
          <p:cNvSpPr/>
          <p:nvPr/>
        </p:nvSpPr>
        <p:spPr>
          <a:xfrm>
            <a:off x="2140662" y="3632438"/>
            <a:ext cx="1229032" cy="5309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F5E0B6-F062-14AA-B428-50A1D94F44C6}"/>
              </a:ext>
            </a:extLst>
          </p:cNvPr>
          <p:cNvSpPr txBox="1"/>
          <p:nvPr/>
        </p:nvSpPr>
        <p:spPr>
          <a:xfrm>
            <a:off x="193009" y="135231"/>
            <a:ext cx="4646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Scenario 2: Create New </a:t>
            </a:r>
            <a:r>
              <a:rPr lang="en-US" b="1"/>
              <a:t>H</a:t>
            </a:r>
            <a:r>
              <a:rPr lang="en-US" sz="1800" b="1"/>
              <a:t>ypothesis </a:t>
            </a:r>
            <a:endParaRPr lang="en-US" b="1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323AD40-B4A0-0AAC-9170-D8149227C670}"/>
              </a:ext>
            </a:extLst>
          </p:cNvPr>
          <p:cNvCxnSpPr>
            <a:cxnSpLocks/>
          </p:cNvCxnSpPr>
          <p:nvPr/>
        </p:nvCxnSpPr>
        <p:spPr>
          <a:xfrm>
            <a:off x="2749848" y="3163581"/>
            <a:ext cx="3553" cy="4562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2A6C7A3E-5154-B65C-E817-1AAC5E5C0FAD}"/>
              </a:ext>
            </a:extLst>
          </p:cNvPr>
          <p:cNvSpPr txBox="1"/>
          <p:nvPr/>
        </p:nvSpPr>
        <p:spPr>
          <a:xfrm>
            <a:off x="10853264" y="699955"/>
            <a:ext cx="997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</a:t>
            </a:r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| </a:t>
            </a:r>
            <a:r>
              <a:rPr lang="en-US" sz="90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Favorites</a:t>
            </a:r>
            <a:endParaRPr lang="en-US" sz="90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4766F41D-6344-95EB-2910-0649166C3D9F}"/>
              </a:ext>
            </a:extLst>
          </p:cNvPr>
          <p:cNvSpPr txBox="1"/>
          <p:nvPr/>
        </p:nvSpPr>
        <p:spPr>
          <a:xfrm>
            <a:off x="5576684" y="741966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 hypothesis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1185C2EE-7D94-556A-BF09-93F621AEACFB}"/>
              </a:ext>
            </a:extLst>
          </p:cNvPr>
          <p:cNvSpPr/>
          <p:nvPr/>
        </p:nvSpPr>
        <p:spPr>
          <a:xfrm>
            <a:off x="5649361" y="1898552"/>
            <a:ext cx="2682165" cy="209088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7D3C86E0-6B91-4DD1-695B-84FC6E54A0F9}"/>
              </a:ext>
            </a:extLst>
          </p:cNvPr>
          <p:cNvSpPr/>
          <p:nvPr/>
        </p:nvSpPr>
        <p:spPr>
          <a:xfrm>
            <a:off x="5636315" y="981387"/>
            <a:ext cx="1769490" cy="21756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F473CC1-7E76-647D-5D99-7A1CCDA3E25F}"/>
              </a:ext>
            </a:extLst>
          </p:cNvPr>
          <p:cNvSpPr txBox="1"/>
          <p:nvPr/>
        </p:nvSpPr>
        <p:spPr>
          <a:xfrm>
            <a:off x="5667018" y="962357"/>
            <a:ext cx="1331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2705D10-7059-2373-B8FA-9E791882DA9B}"/>
              </a:ext>
            </a:extLst>
          </p:cNvPr>
          <p:cNvSpPr txBox="1"/>
          <p:nvPr/>
        </p:nvSpPr>
        <p:spPr>
          <a:xfrm>
            <a:off x="5589153" y="1630893"/>
            <a:ext cx="2333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Request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BFF00A6-1AC5-8362-97F0-4055E47F606D}"/>
              </a:ext>
            </a:extLst>
          </p:cNvPr>
          <p:cNvSpPr txBox="1"/>
          <p:nvPr/>
        </p:nvSpPr>
        <p:spPr>
          <a:xfrm>
            <a:off x="5670351" y="1897237"/>
            <a:ext cx="2524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(Ozempic) exerts its metabolic and organ-protective effects primarily via activation of GLP-1 receptors in peripheral and central tissues, engaging canonical cAMP/PKA signaling to modulate insulin secretion, appetite, and tissue protection.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26460154-5F67-EAF4-91DE-42D28783272A}"/>
              </a:ext>
            </a:extLst>
          </p:cNvPr>
          <p:cNvSpPr/>
          <p:nvPr/>
        </p:nvSpPr>
        <p:spPr>
          <a:xfrm>
            <a:off x="7491860" y="979245"/>
            <a:ext cx="845973" cy="21970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07D182E5-CDEE-5FBB-944C-BECEEA46810D}"/>
              </a:ext>
            </a:extLst>
          </p:cNvPr>
          <p:cNvSpPr/>
          <p:nvPr/>
        </p:nvSpPr>
        <p:spPr>
          <a:xfrm>
            <a:off x="5657850" y="1336282"/>
            <a:ext cx="1745248" cy="21592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3D845322-B2AD-8BF7-025B-FBAA43628223}"/>
              </a:ext>
            </a:extLst>
          </p:cNvPr>
          <p:cNvSpPr/>
          <p:nvPr/>
        </p:nvSpPr>
        <p:spPr>
          <a:xfrm>
            <a:off x="7492115" y="1338703"/>
            <a:ext cx="845974" cy="20766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1673556-F420-9A99-6D0E-C3B37241732D}"/>
              </a:ext>
            </a:extLst>
          </p:cNvPr>
          <p:cNvSpPr txBox="1"/>
          <p:nvPr/>
        </p:nvSpPr>
        <p:spPr>
          <a:xfrm>
            <a:off x="5657850" y="1312835"/>
            <a:ext cx="8694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</a:t>
            </a:r>
          </a:p>
        </p:txBody>
      </p:sp>
      <p:sp>
        <p:nvSpPr>
          <p:cNvPr id="169" name="Isosceles Triangle 168">
            <a:extLst>
              <a:ext uri="{FF2B5EF4-FFF2-40B4-BE49-F238E27FC236}">
                <a16:creationId xmlns:a16="http://schemas.microsoft.com/office/drawing/2014/main" id="{530F26CA-023E-8B33-145E-8F6662012A8D}"/>
              </a:ext>
            </a:extLst>
          </p:cNvPr>
          <p:cNvSpPr/>
          <p:nvPr/>
        </p:nvSpPr>
        <p:spPr>
          <a:xfrm rot="10800000">
            <a:off x="8193837" y="1045438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Isosceles Triangle 169">
            <a:extLst>
              <a:ext uri="{FF2B5EF4-FFF2-40B4-BE49-F238E27FC236}">
                <a16:creationId xmlns:a16="http://schemas.microsoft.com/office/drawing/2014/main" id="{BC214794-17D1-D195-9DB1-754B8C40818E}"/>
              </a:ext>
            </a:extLst>
          </p:cNvPr>
          <p:cNvSpPr/>
          <p:nvPr/>
        </p:nvSpPr>
        <p:spPr>
          <a:xfrm rot="10800000">
            <a:off x="8203036" y="1414654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7EF307B-42F2-7D65-BA64-10ED4FE62155}"/>
              </a:ext>
            </a:extLst>
          </p:cNvPr>
          <p:cNvSpPr txBox="1"/>
          <p:nvPr/>
        </p:nvSpPr>
        <p:spPr>
          <a:xfrm>
            <a:off x="7451689" y="982169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drug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733246D-08BF-124C-B504-0B2D2AE1A505}"/>
              </a:ext>
            </a:extLst>
          </p:cNvPr>
          <p:cNvSpPr txBox="1"/>
          <p:nvPr/>
        </p:nvSpPr>
        <p:spPr>
          <a:xfrm>
            <a:off x="7469761" y="1314303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disease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74E0A216-B8AA-105E-22DA-556DA46B72B2}"/>
              </a:ext>
            </a:extLst>
          </p:cNvPr>
          <p:cNvSpPr/>
          <p:nvPr/>
        </p:nvSpPr>
        <p:spPr>
          <a:xfrm>
            <a:off x="7496401" y="412645"/>
            <a:ext cx="845973" cy="1870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new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57D5D6F2-8372-9649-19D5-FAF1EB43175B}"/>
              </a:ext>
            </a:extLst>
          </p:cNvPr>
          <p:cNvSpPr txBox="1"/>
          <p:nvPr/>
        </p:nvSpPr>
        <p:spPr>
          <a:xfrm>
            <a:off x="5540111" y="343799"/>
            <a:ext cx="150801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Research Panel</a:t>
            </a:r>
            <a:endParaRPr lang="en-US" sz="105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FEA6F9A-066A-F383-849F-B42BE0DB34A5}"/>
              </a:ext>
            </a:extLst>
          </p:cNvPr>
          <p:cNvSpPr txBox="1"/>
          <p:nvPr/>
        </p:nvSpPr>
        <p:spPr>
          <a:xfrm>
            <a:off x="8579493" y="703921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Search results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BEF37565-3207-D6D4-EEDD-1C962AFA5130}"/>
              </a:ext>
            </a:extLst>
          </p:cNvPr>
          <p:cNvCxnSpPr>
            <a:cxnSpLocks/>
          </p:cNvCxnSpPr>
          <p:nvPr/>
        </p:nvCxnSpPr>
        <p:spPr>
          <a:xfrm>
            <a:off x="6602758" y="1200482"/>
            <a:ext cx="0" cy="1358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2EF5F2B-BEBB-372C-DB8E-E81C220BCAC4}"/>
              </a:ext>
            </a:extLst>
          </p:cNvPr>
          <p:cNvGrpSpPr/>
          <p:nvPr/>
        </p:nvGrpSpPr>
        <p:grpSpPr>
          <a:xfrm rot="2838479">
            <a:off x="11791753" y="402259"/>
            <a:ext cx="113344" cy="117771"/>
            <a:chOff x="2648269" y="5208104"/>
            <a:chExt cx="193061" cy="218661"/>
          </a:xfrm>
        </p:grpSpPr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26BA75F-BF36-F095-AD77-11E602237003}"/>
                </a:ext>
              </a:extLst>
            </p:cNvPr>
            <p:cNvCxnSpPr/>
            <p:nvPr/>
          </p:nvCxnSpPr>
          <p:spPr>
            <a:xfrm>
              <a:off x="2749848" y="5208104"/>
              <a:ext cx="0" cy="21866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9EFF5F9-1B09-BABD-40D9-7E49C31E066A}"/>
                </a:ext>
              </a:extLst>
            </p:cNvPr>
            <p:cNvCxnSpPr>
              <a:cxnSpLocks/>
            </p:cNvCxnSpPr>
            <p:nvPr/>
          </p:nvCxnSpPr>
          <p:spPr>
            <a:xfrm>
              <a:off x="2648269" y="5321895"/>
              <a:ext cx="19306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6" name="Arrow: Chevron 215">
            <a:extLst>
              <a:ext uri="{FF2B5EF4-FFF2-40B4-BE49-F238E27FC236}">
                <a16:creationId xmlns:a16="http://schemas.microsoft.com/office/drawing/2014/main" id="{71626537-BB5C-323A-80B7-A77B4A97C557}"/>
              </a:ext>
            </a:extLst>
          </p:cNvPr>
          <p:cNvSpPr/>
          <p:nvPr/>
        </p:nvSpPr>
        <p:spPr>
          <a:xfrm>
            <a:off x="8113605" y="3833777"/>
            <a:ext cx="132732" cy="92180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CD9ED668-7619-B45F-00D5-238171CFF04D}"/>
              </a:ext>
            </a:extLst>
          </p:cNvPr>
          <p:cNvSpPr txBox="1"/>
          <p:nvPr/>
        </p:nvSpPr>
        <p:spPr>
          <a:xfrm>
            <a:off x="9915525" y="815371"/>
            <a:ext cx="49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647CF6E2-7115-60E2-318A-E72FC053926A}"/>
              </a:ext>
            </a:extLst>
          </p:cNvPr>
          <p:cNvSpPr/>
          <p:nvPr/>
        </p:nvSpPr>
        <p:spPr>
          <a:xfrm>
            <a:off x="11577419" y="44787"/>
            <a:ext cx="378594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65ECDE5-A2B9-3876-4279-E37A4E0CA080}"/>
              </a:ext>
            </a:extLst>
          </p:cNvPr>
          <p:cNvSpPr/>
          <p:nvPr/>
        </p:nvSpPr>
        <p:spPr>
          <a:xfrm>
            <a:off x="9995025" y="-956"/>
            <a:ext cx="2007869" cy="2861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Flowchart: Connector 221">
            <a:extLst>
              <a:ext uri="{FF2B5EF4-FFF2-40B4-BE49-F238E27FC236}">
                <a16:creationId xmlns:a16="http://schemas.microsoft.com/office/drawing/2014/main" id="{9E0BED46-B899-1409-1FB7-C150B8FCA1E8}"/>
              </a:ext>
            </a:extLst>
          </p:cNvPr>
          <p:cNvSpPr/>
          <p:nvPr/>
        </p:nvSpPr>
        <p:spPr>
          <a:xfrm>
            <a:off x="11647358" y="49824"/>
            <a:ext cx="168943" cy="170813"/>
          </a:xfrm>
          <a:prstGeom prst="flowChart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Isosceles Triangle 222">
            <a:extLst>
              <a:ext uri="{FF2B5EF4-FFF2-40B4-BE49-F238E27FC236}">
                <a16:creationId xmlns:a16="http://schemas.microsoft.com/office/drawing/2014/main" id="{0E9364F9-1449-731C-285C-6BE33994D774}"/>
              </a:ext>
            </a:extLst>
          </p:cNvPr>
          <p:cNvSpPr/>
          <p:nvPr/>
        </p:nvSpPr>
        <p:spPr>
          <a:xfrm rot="10800000">
            <a:off x="11842126" y="113580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47526C4C-AD30-E3DC-76D4-F0E8835759FC}"/>
              </a:ext>
            </a:extLst>
          </p:cNvPr>
          <p:cNvSpPr/>
          <p:nvPr/>
        </p:nvSpPr>
        <p:spPr>
          <a:xfrm>
            <a:off x="11077667" y="48141"/>
            <a:ext cx="507350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5056C5D3-2830-C36A-C6F5-B8D49793579F}"/>
              </a:ext>
            </a:extLst>
          </p:cNvPr>
          <p:cNvSpPr/>
          <p:nvPr/>
        </p:nvSpPr>
        <p:spPr>
          <a:xfrm>
            <a:off x="10073005" y="46103"/>
            <a:ext cx="972203" cy="187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Panel</a:t>
            </a:r>
          </a:p>
        </p:txBody>
      </p:sp>
    </p:spTree>
    <p:extLst>
      <p:ext uri="{BB962C8B-B14F-4D97-AF65-F5344CB8AC3E}">
        <p14:creationId xmlns:p14="http://schemas.microsoft.com/office/powerpoint/2010/main" val="557368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B97599-ABF7-23C3-3253-4FD4CE81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214">
            <a:extLst>
              <a:ext uri="{FF2B5EF4-FFF2-40B4-BE49-F238E27FC236}">
                <a16:creationId xmlns:a16="http://schemas.microsoft.com/office/drawing/2014/main" id="{DBE19E75-03C0-B351-194B-38A4A2A15995}"/>
              </a:ext>
            </a:extLst>
          </p:cNvPr>
          <p:cNvSpPr/>
          <p:nvPr/>
        </p:nvSpPr>
        <p:spPr>
          <a:xfrm>
            <a:off x="8510431" y="336872"/>
            <a:ext cx="3488559" cy="649798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A263A30-7802-B077-9B31-4927BD1EEF4F}"/>
              </a:ext>
            </a:extLst>
          </p:cNvPr>
          <p:cNvSpPr/>
          <p:nvPr/>
        </p:nvSpPr>
        <p:spPr>
          <a:xfrm>
            <a:off x="5461943" y="336872"/>
            <a:ext cx="3048489" cy="649666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7CB0D3-B23F-AE04-077B-5C85E5FEC1D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7210D29-3019-C480-4F23-AAEDA63BB00E}"/>
              </a:ext>
            </a:extLst>
          </p:cNvPr>
          <p:cNvSpPr/>
          <p:nvPr/>
        </p:nvSpPr>
        <p:spPr>
          <a:xfrm>
            <a:off x="2137109" y="1645405"/>
            <a:ext cx="1229032" cy="5309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Obesity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DBC8354-696F-8B72-C1AE-7331027B9CC2}"/>
              </a:ext>
            </a:extLst>
          </p:cNvPr>
          <p:cNvCxnSpPr>
            <a:cxnSpLocks/>
            <a:stCxn id="44" idx="2"/>
            <a:endCxn id="50" idx="0"/>
          </p:cNvCxnSpPr>
          <p:nvPr/>
        </p:nvCxnSpPr>
        <p:spPr>
          <a:xfrm>
            <a:off x="2751625" y="2176347"/>
            <a:ext cx="3553" cy="4562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25AFFAC-9CA6-47BF-9839-A09EF6410D01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755178" y="3152119"/>
            <a:ext cx="0" cy="480319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BD8460C5-0035-5C4F-396C-C9FE2EFA487F}"/>
              </a:ext>
            </a:extLst>
          </p:cNvPr>
          <p:cNvSpPr/>
          <p:nvPr/>
        </p:nvSpPr>
        <p:spPr>
          <a:xfrm>
            <a:off x="2140662" y="2632639"/>
            <a:ext cx="1229032" cy="5309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GLP-1 receptor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9F0B3F4-9428-5372-3181-7A78781120AC}"/>
              </a:ext>
            </a:extLst>
          </p:cNvPr>
          <p:cNvSpPr/>
          <p:nvPr/>
        </p:nvSpPr>
        <p:spPr>
          <a:xfrm>
            <a:off x="2140662" y="3632438"/>
            <a:ext cx="1229032" cy="5309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11AC1B-C181-008C-622D-DE36CF89B09F}"/>
              </a:ext>
            </a:extLst>
          </p:cNvPr>
          <p:cNvSpPr txBox="1"/>
          <p:nvPr/>
        </p:nvSpPr>
        <p:spPr>
          <a:xfrm>
            <a:off x="193009" y="135231"/>
            <a:ext cx="4646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Scenario 2: Create New </a:t>
            </a:r>
            <a:r>
              <a:rPr lang="en-US" b="1"/>
              <a:t>H</a:t>
            </a:r>
            <a:r>
              <a:rPr lang="en-US" sz="1800" b="1"/>
              <a:t>ypothesis </a:t>
            </a:r>
            <a:endParaRPr lang="en-US" b="1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94338F3-7CA6-6444-B544-7ECA836F7094}"/>
              </a:ext>
            </a:extLst>
          </p:cNvPr>
          <p:cNvCxnSpPr>
            <a:cxnSpLocks/>
          </p:cNvCxnSpPr>
          <p:nvPr/>
        </p:nvCxnSpPr>
        <p:spPr>
          <a:xfrm>
            <a:off x="2749848" y="3163581"/>
            <a:ext cx="3553" cy="4562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65F1FA05-89C7-317D-53A1-87C952C84DA6}"/>
              </a:ext>
            </a:extLst>
          </p:cNvPr>
          <p:cNvSpPr txBox="1"/>
          <p:nvPr/>
        </p:nvSpPr>
        <p:spPr>
          <a:xfrm>
            <a:off x="10853264" y="699955"/>
            <a:ext cx="997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</a:t>
            </a:r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 | </a:t>
            </a:r>
            <a:r>
              <a:rPr lang="en-US" sz="90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Favorites</a:t>
            </a:r>
            <a:endParaRPr lang="en-US" sz="90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B9D4FA35-51C0-7328-5C3B-CBADD56D2594}"/>
              </a:ext>
            </a:extLst>
          </p:cNvPr>
          <p:cNvSpPr txBox="1"/>
          <p:nvPr/>
        </p:nvSpPr>
        <p:spPr>
          <a:xfrm>
            <a:off x="5576684" y="741966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 hypothesis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3DF77BCC-F7C6-C3B6-05E9-051ACE895351}"/>
              </a:ext>
            </a:extLst>
          </p:cNvPr>
          <p:cNvSpPr/>
          <p:nvPr/>
        </p:nvSpPr>
        <p:spPr>
          <a:xfrm>
            <a:off x="5649361" y="1898552"/>
            <a:ext cx="2682165" cy="209088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67F264AB-2574-3926-43EE-51F06FEEF475}"/>
              </a:ext>
            </a:extLst>
          </p:cNvPr>
          <p:cNvSpPr/>
          <p:nvPr/>
        </p:nvSpPr>
        <p:spPr>
          <a:xfrm>
            <a:off x="5636315" y="981387"/>
            <a:ext cx="1769490" cy="21756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CC1AA817-AC11-C80C-A62E-ECABD54385A2}"/>
              </a:ext>
            </a:extLst>
          </p:cNvPr>
          <p:cNvSpPr txBox="1"/>
          <p:nvPr/>
        </p:nvSpPr>
        <p:spPr>
          <a:xfrm>
            <a:off x="5667018" y="962357"/>
            <a:ext cx="1331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9FC43D17-9251-C46F-9938-096763C7ED60}"/>
              </a:ext>
            </a:extLst>
          </p:cNvPr>
          <p:cNvSpPr txBox="1"/>
          <p:nvPr/>
        </p:nvSpPr>
        <p:spPr>
          <a:xfrm>
            <a:off x="5589153" y="1630893"/>
            <a:ext cx="2333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Request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1753416-621B-EE10-6FFD-FF2E9DEF8F5D}"/>
              </a:ext>
            </a:extLst>
          </p:cNvPr>
          <p:cNvSpPr txBox="1"/>
          <p:nvPr/>
        </p:nvSpPr>
        <p:spPr>
          <a:xfrm>
            <a:off x="5670351" y="1897237"/>
            <a:ext cx="2524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(Ozempic) exerts its metabolic and organ-protective effects primarily via activation of GLP-1 receptors in peripheral and central tissues, engaging canonical cAMP/PKA signaling to modulate insulin secretion, appetite, and tissue protection.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D3B0C452-5EC6-75E9-1AA0-3A5D3B0A3BCC}"/>
              </a:ext>
            </a:extLst>
          </p:cNvPr>
          <p:cNvSpPr/>
          <p:nvPr/>
        </p:nvSpPr>
        <p:spPr>
          <a:xfrm>
            <a:off x="7491860" y="979245"/>
            <a:ext cx="845973" cy="21970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F08F1E9A-F8F9-2648-7B1D-D6E68203E68C}"/>
              </a:ext>
            </a:extLst>
          </p:cNvPr>
          <p:cNvSpPr/>
          <p:nvPr/>
        </p:nvSpPr>
        <p:spPr>
          <a:xfrm>
            <a:off x="5657850" y="1336282"/>
            <a:ext cx="1745248" cy="21592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1FE471C8-6668-4C26-A6E6-DA4F8EC0A21B}"/>
              </a:ext>
            </a:extLst>
          </p:cNvPr>
          <p:cNvSpPr/>
          <p:nvPr/>
        </p:nvSpPr>
        <p:spPr>
          <a:xfrm>
            <a:off x="7492115" y="1338703"/>
            <a:ext cx="845974" cy="20766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B224295-9916-6A48-CF0C-987AAEDF43A9}"/>
              </a:ext>
            </a:extLst>
          </p:cNvPr>
          <p:cNvSpPr txBox="1"/>
          <p:nvPr/>
        </p:nvSpPr>
        <p:spPr>
          <a:xfrm>
            <a:off x="5657850" y="1312835"/>
            <a:ext cx="8694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</a:t>
            </a:r>
          </a:p>
        </p:txBody>
      </p:sp>
      <p:sp>
        <p:nvSpPr>
          <p:cNvPr id="169" name="Isosceles Triangle 168">
            <a:extLst>
              <a:ext uri="{FF2B5EF4-FFF2-40B4-BE49-F238E27FC236}">
                <a16:creationId xmlns:a16="http://schemas.microsoft.com/office/drawing/2014/main" id="{71C23097-DB85-DFE7-C5CB-27E6286CCF49}"/>
              </a:ext>
            </a:extLst>
          </p:cNvPr>
          <p:cNvSpPr/>
          <p:nvPr/>
        </p:nvSpPr>
        <p:spPr>
          <a:xfrm rot="10800000">
            <a:off x="8193837" y="1045438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Isosceles Triangle 169">
            <a:extLst>
              <a:ext uri="{FF2B5EF4-FFF2-40B4-BE49-F238E27FC236}">
                <a16:creationId xmlns:a16="http://schemas.microsoft.com/office/drawing/2014/main" id="{B7E500EC-8161-07DF-E726-8B19B9BA65B1}"/>
              </a:ext>
            </a:extLst>
          </p:cNvPr>
          <p:cNvSpPr/>
          <p:nvPr/>
        </p:nvSpPr>
        <p:spPr>
          <a:xfrm rot="10800000">
            <a:off x="8203036" y="1414654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526625F-01B9-7E99-B89B-96DB6F036CFA}"/>
              </a:ext>
            </a:extLst>
          </p:cNvPr>
          <p:cNvSpPr txBox="1"/>
          <p:nvPr/>
        </p:nvSpPr>
        <p:spPr>
          <a:xfrm>
            <a:off x="7451689" y="982169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drug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73F84F7D-56AD-2891-2DF4-CD7C25E4CA5E}"/>
              </a:ext>
            </a:extLst>
          </p:cNvPr>
          <p:cNvSpPr txBox="1"/>
          <p:nvPr/>
        </p:nvSpPr>
        <p:spPr>
          <a:xfrm>
            <a:off x="7469761" y="1314303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disease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2CB219F7-E5BF-5788-7058-C06A3AE1D14E}"/>
              </a:ext>
            </a:extLst>
          </p:cNvPr>
          <p:cNvSpPr/>
          <p:nvPr/>
        </p:nvSpPr>
        <p:spPr>
          <a:xfrm>
            <a:off x="7496401" y="412645"/>
            <a:ext cx="845973" cy="1870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new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BEAA3C9E-319E-1286-28EF-C522860FFBD3}"/>
              </a:ext>
            </a:extLst>
          </p:cNvPr>
          <p:cNvSpPr txBox="1"/>
          <p:nvPr/>
        </p:nvSpPr>
        <p:spPr>
          <a:xfrm>
            <a:off x="5540111" y="343799"/>
            <a:ext cx="150801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Research Panel</a:t>
            </a:r>
            <a:endParaRPr lang="en-US" sz="105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50B0701B-B8AC-A5CB-CC66-E665CC6B57B1}"/>
              </a:ext>
            </a:extLst>
          </p:cNvPr>
          <p:cNvSpPr txBox="1"/>
          <p:nvPr/>
        </p:nvSpPr>
        <p:spPr>
          <a:xfrm>
            <a:off x="8579493" y="703921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Search results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A5148EA-CB36-A431-748E-A7E9344603FB}"/>
              </a:ext>
            </a:extLst>
          </p:cNvPr>
          <p:cNvCxnSpPr>
            <a:cxnSpLocks/>
          </p:cNvCxnSpPr>
          <p:nvPr/>
        </p:nvCxnSpPr>
        <p:spPr>
          <a:xfrm>
            <a:off x="6602758" y="1200482"/>
            <a:ext cx="0" cy="1358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27E8F176-0608-4733-E198-8C210FCBE0BF}"/>
              </a:ext>
            </a:extLst>
          </p:cNvPr>
          <p:cNvGrpSpPr/>
          <p:nvPr/>
        </p:nvGrpSpPr>
        <p:grpSpPr>
          <a:xfrm rot="2838479">
            <a:off x="11791753" y="402259"/>
            <a:ext cx="113344" cy="117771"/>
            <a:chOff x="2648269" y="5208104"/>
            <a:chExt cx="193061" cy="218661"/>
          </a:xfrm>
        </p:grpSpPr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7807B36-AC0E-3DCD-AF4C-5BC1FFD389D9}"/>
                </a:ext>
              </a:extLst>
            </p:cNvPr>
            <p:cNvCxnSpPr/>
            <p:nvPr/>
          </p:nvCxnSpPr>
          <p:spPr>
            <a:xfrm>
              <a:off x="2749848" y="5208104"/>
              <a:ext cx="0" cy="21866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8F6F7D83-FCC1-5026-E580-EA20C2B3DC90}"/>
                </a:ext>
              </a:extLst>
            </p:cNvPr>
            <p:cNvCxnSpPr>
              <a:cxnSpLocks/>
            </p:cNvCxnSpPr>
            <p:nvPr/>
          </p:nvCxnSpPr>
          <p:spPr>
            <a:xfrm>
              <a:off x="2648269" y="5321895"/>
              <a:ext cx="19306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6" name="Arrow: Chevron 215">
            <a:extLst>
              <a:ext uri="{FF2B5EF4-FFF2-40B4-BE49-F238E27FC236}">
                <a16:creationId xmlns:a16="http://schemas.microsoft.com/office/drawing/2014/main" id="{E313F015-145D-ED85-B9D5-9FB1C9B99A02}"/>
              </a:ext>
            </a:extLst>
          </p:cNvPr>
          <p:cNvSpPr/>
          <p:nvPr/>
        </p:nvSpPr>
        <p:spPr>
          <a:xfrm>
            <a:off x="8113605" y="3833777"/>
            <a:ext cx="132732" cy="92180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63243D9B-273E-25C7-CCF6-1D5DD7AD0F46}"/>
              </a:ext>
            </a:extLst>
          </p:cNvPr>
          <p:cNvSpPr/>
          <p:nvPr/>
        </p:nvSpPr>
        <p:spPr>
          <a:xfrm>
            <a:off x="11577419" y="44787"/>
            <a:ext cx="378594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758A245F-0817-4B46-F798-B10FD75FDBFA}"/>
              </a:ext>
            </a:extLst>
          </p:cNvPr>
          <p:cNvSpPr/>
          <p:nvPr/>
        </p:nvSpPr>
        <p:spPr>
          <a:xfrm>
            <a:off x="9995025" y="-956"/>
            <a:ext cx="2007869" cy="2861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Flowchart: Connector 221">
            <a:extLst>
              <a:ext uri="{FF2B5EF4-FFF2-40B4-BE49-F238E27FC236}">
                <a16:creationId xmlns:a16="http://schemas.microsoft.com/office/drawing/2014/main" id="{14DFA69D-1173-1912-39E2-27E8A1B82BD1}"/>
              </a:ext>
            </a:extLst>
          </p:cNvPr>
          <p:cNvSpPr/>
          <p:nvPr/>
        </p:nvSpPr>
        <p:spPr>
          <a:xfrm>
            <a:off x="11647358" y="49824"/>
            <a:ext cx="168943" cy="170813"/>
          </a:xfrm>
          <a:prstGeom prst="flowChart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Isosceles Triangle 222">
            <a:extLst>
              <a:ext uri="{FF2B5EF4-FFF2-40B4-BE49-F238E27FC236}">
                <a16:creationId xmlns:a16="http://schemas.microsoft.com/office/drawing/2014/main" id="{A39E3466-CCC3-EE62-BAC8-A479447B5D01}"/>
              </a:ext>
            </a:extLst>
          </p:cNvPr>
          <p:cNvSpPr/>
          <p:nvPr/>
        </p:nvSpPr>
        <p:spPr>
          <a:xfrm rot="10800000">
            <a:off x="11842126" y="113580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5B0760F2-953A-9F8D-F95A-7002F92DA236}"/>
              </a:ext>
            </a:extLst>
          </p:cNvPr>
          <p:cNvSpPr/>
          <p:nvPr/>
        </p:nvSpPr>
        <p:spPr>
          <a:xfrm>
            <a:off x="11077667" y="48141"/>
            <a:ext cx="507350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CD24B99A-61EB-E31F-E94E-1DDA060A23AD}"/>
              </a:ext>
            </a:extLst>
          </p:cNvPr>
          <p:cNvSpPr/>
          <p:nvPr/>
        </p:nvSpPr>
        <p:spPr>
          <a:xfrm>
            <a:off x="10073005" y="46103"/>
            <a:ext cx="972203" cy="187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Panel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D9BF6A-EA62-4EB3-7C16-7756A55B1D04}"/>
              </a:ext>
            </a:extLst>
          </p:cNvPr>
          <p:cNvSpPr/>
          <p:nvPr/>
        </p:nvSpPr>
        <p:spPr>
          <a:xfrm>
            <a:off x="8632892" y="982142"/>
            <a:ext cx="2886115" cy="12981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30F79C-632A-1A54-2363-7229D6C28E33}"/>
              </a:ext>
            </a:extLst>
          </p:cNvPr>
          <p:cNvSpPr/>
          <p:nvPr/>
        </p:nvSpPr>
        <p:spPr>
          <a:xfrm>
            <a:off x="11851915" y="990786"/>
            <a:ext cx="88186" cy="5694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8CD8C4-9A01-29CD-D626-12CA38BE9EB2}"/>
              </a:ext>
            </a:extLst>
          </p:cNvPr>
          <p:cNvSpPr/>
          <p:nvPr/>
        </p:nvSpPr>
        <p:spPr>
          <a:xfrm>
            <a:off x="11842126" y="979244"/>
            <a:ext cx="113887" cy="554188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7D42D08-6F69-722A-C7F9-3D4170E3426C}"/>
              </a:ext>
            </a:extLst>
          </p:cNvPr>
          <p:cNvSpPr/>
          <p:nvPr/>
        </p:nvSpPr>
        <p:spPr>
          <a:xfrm>
            <a:off x="11539814" y="982452"/>
            <a:ext cx="251414" cy="12978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DA452A-A9FB-0F9C-9ABD-EAF54BDBE7B3}"/>
              </a:ext>
            </a:extLst>
          </p:cNvPr>
          <p:cNvSpPr txBox="1"/>
          <p:nvPr/>
        </p:nvSpPr>
        <p:spPr>
          <a:xfrm>
            <a:off x="8630642" y="990786"/>
            <a:ext cx="2848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Nausea / vomiting / diarrhea</a:t>
            </a:r>
          </a:p>
          <a:p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Peptide 1 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…(+5)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6F333B-CCD6-7399-AB6E-C66B33237752}"/>
              </a:ext>
            </a:extLst>
          </p:cNvPr>
          <p:cNvSpPr/>
          <p:nvPr/>
        </p:nvSpPr>
        <p:spPr>
          <a:xfrm>
            <a:off x="8624693" y="2342937"/>
            <a:ext cx="2886115" cy="11952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5564C7-850B-506B-FF1B-1D749CEBD4A0}"/>
              </a:ext>
            </a:extLst>
          </p:cNvPr>
          <p:cNvSpPr/>
          <p:nvPr/>
        </p:nvSpPr>
        <p:spPr>
          <a:xfrm>
            <a:off x="11530847" y="2343236"/>
            <a:ext cx="251414" cy="11949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4AFFBA-D1F8-C7C0-5032-17FA4432D0BD}"/>
              </a:ext>
            </a:extLst>
          </p:cNvPr>
          <p:cNvSpPr/>
          <p:nvPr/>
        </p:nvSpPr>
        <p:spPr>
          <a:xfrm>
            <a:off x="8616281" y="3605683"/>
            <a:ext cx="2886115" cy="1221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32EE193-851F-F222-BE1F-8D6FE6789034}"/>
              </a:ext>
            </a:extLst>
          </p:cNvPr>
          <p:cNvSpPr/>
          <p:nvPr/>
        </p:nvSpPr>
        <p:spPr>
          <a:xfrm>
            <a:off x="11521651" y="3606402"/>
            <a:ext cx="251414" cy="12206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AE3C8B-49B8-9823-D2BC-C66CF8779E48}"/>
              </a:ext>
            </a:extLst>
          </p:cNvPr>
          <p:cNvSpPr txBox="1"/>
          <p:nvPr/>
        </p:nvSpPr>
        <p:spPr>
          <a:xfrm>
            <a:off x="8604071" y="2321654"/>
            <a:ext cx="284849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Delayed gastric emptying / gastroparesis </a:t>
            </a:r>
          </a:p>
          <a:p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aglucagon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like  peptide-1 receptor agonist with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 glucagon like peptide-1 receptor…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0E17D1-5D62-F703-E757-F96DFAFE1681}"/>
              </a:ext>
            </a:extLst>
          </p:cNvPr>
          <p:cNvSpPr txBox="1"/>
          <p:nvPr/>
        </p:nvSpPr>
        <p:spPr>
          <a:xfrm>
            <a:off x="8620469" y="3597420"/>
            <a:ext cx="2848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Alzheimer's disease (neuroprotection / cognition) </a:t>
            </a:r>
          </a:p>
          <a:p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Peptide 1 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A… (+3)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5DA945-9FE0-2464-8F15-6DECA065DACD}"/>
              </a:ext>
            </a:extLst>
          </p:cNvPr>
          <p:cNvSpPr/>
          <p:nvPr/>
        </p:nvSpPr>
        <p:spPr>
          <a:xfrm>
            <a:off x="8619263" y="4889117"/>
            <a:ext cx="2886115" cy="10849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B5A5FF-17CD-C40B-6FAE-48A78E0B2865}"/>
              </a:ext>
            </a:extLst>
          </p:cNvPr>
          <p:cNvSpPr txBox="1"/>
          <p:nvPr/>
        </p:nvSpPr>
        <p:spPr>
          <a:xfrm>
            <a:off x="8636239" y="4896838"/>
            <a:ext cx="284849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Acute pancreatitis</a:t>
            </a:r>
            <a:br>
              <a:rPr lang="en-US" sz="800"/>
            </a:b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</a:rPr>
              <a:t>Pancreatitis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</a:rPr>
              <a:t> Risk Associated with GLP-1 Receptor Agonists: A Real...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80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9419BEA-7470-C7AB-9DCB-7C2CA79B726A}"/>
              </a:ext>
            </a:extLst>
          </p:cNvPr>
          <p:cNvSpPr/>
          <p:nvPr/>
        </p:nvSpPr>
        <p:spPr>
          <a:xfrm>
            <a:off x="10784442" y="2444001"/>
            <a:ext cx="962334" cy="2150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to Favorites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CEE4E6-EDCC-D3FB-3A97-1CEA1DF38A08}"/>
              </a:ext>
            </a:extLst>
          </p:cNvPr>
          <p:cNvSpPr/>
          <p:nvPr/>
        </p:nvSpPr>
        <p:spPr>
          <a:xfrm>
            <a:off x="11525531" y="4893647"/>
            <a:ext cx="251414" cy="10772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281CBC3-D490-6DB7-45D8-89BB21EE600E}"/>
              </a:ext>
            </a:extLst>
          </p:cNvPr>
          <p:cNvSpPr/>
          <p:nvPr/>
        </p:nvSpPr>
        <p:spPr>
          <a:xfrm>
            <a:off x="8607717" y="6036154"/>
            <a:ext cx="2886115" cy="4849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2E6C10-24B0-1525-8E8D-E40AA189E3FD}"/>
              </a:ext>
            </a:extLst>
          </p:cNvPr>
          <p:cNvSpPr txBox="1"/>
          <p:nvPr/>
        </p:nvSpPr>
        <p:spPr>
          <a:xfrm>
            <a:off x="8624693" y="6043874"/>
            <a:ext cx="2848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Acute pancreatitis</a:t>
            </a:r>
            <a:br>
              <a:rPr lang="en-US" sz="800"/>
            </a:b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</a:rPr>
              <a:t>Pancreatitis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</a:rPr>
              <a:t> Risk Associated with GLP-1 Receptor Agonists: A Real...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E1DCA67-9029-0B01-691E-537B8EEC33B4}"/>
              </a:ext>
            </a:extLst>
          </p:cNvPr>
          <p:cNvSpPr/>
          <p:nvPr/>
        </p:nvSpPr>
        <p:spPr>
          <a:xfrm>
            <a:off x="11513985" y="6040683"/>
            <a:ext cx="251414" cy="48044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D8E27B-6876-1838-0A04-F87159974963}"/>
              </a:ext>
            </a:extLst>
          </p:cNvPr>
          <p:cNvSpPr txBox="1"/>
          <p:nvPr/>
        </p:nvSpPr>
        <p:spPr>
          <a:xfrm>
            <a:off x="9915525" y="6262879"/>
            <a:ext cx="4983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14E917F5-EA59-A33B-A59F-2863072BB58C}"/>
              </a:ext>
            </a:extLst>
          </p:cNvPr>
          <p:cNvSpPr/>
          <p:nvPr/>
        </p:nvSpPr>
        <p:spPr>
          <a:xfrm>
            <a:off x="10795591" y="2678431"/>
            <a:ext cx="962334" cy="2150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to Board</a:t>
            </a:r>
          </a:p>
        </p:txBody>
      </p:sp>
    </p:spTree>
    <p:extLst>
      <p:ext uri="{BB962C8B-B14F-4D97-AF65-F5344CB8AC3E}">
        <p14:creationId xmlns:p14="http://schemas.microsoft.com/office/powerpoint/2010/main" val="2719202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31F77-7088-D6B6-2765-10CECC20E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214">
            <a:extLst>
              <a:ext uri="{FF2B5EF4-FFF2-40B4-BE49-F238E27FC236}">
                <a16:creationId xmlns:a16="http://schemas.microsoft.com/office/drawing/2014/main" id="{0D8474E1-2E88-87B3-1494-28F7D9DD9D97}"/>
              </a:ext>
            </a:extLst>
          </p:cNvPr>
          <p:cNvSpPr/>
          <p:nvPr/>
        </p:nvSpPr>
        <p:spPr>
          <a:xfrm>
            <a:off x="8510431" y="336872"/>
            <a:ext cx="3488559" cy="649798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6D0D06D-698D-7374-D2B5-48C81D9F563F}"/>
              </a:ext>
            </a:extLst>
          </p:cNvPr>
          <p:cNvSpPr/>
          <p:nvPr/>
        </p:nvSpPr>
        <p:spPr>
          <a:xfrm>
            <a:off x="5461943" y="336872"/>
            <a:ext cx="3048489" cy="649666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1307EC-BDB7-A03C-722A-15C68173AA08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221EA60-B338-7A78-CC35-B474BE097DF1}"/>
              </a:ext>
            </a:extLst>
          </p:cNvPr>
          <p:cNvSpPr/>
          <p:nvPr/>
        </p:nvSpPr>
        <p:spPr>
          <a:xfrm>
            <a:off x="2137109" y="1645405"/>
            <a:ext cx="1229032" cy="5309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Obesity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944464-DDF8-DA0D-70A5-62E1C3B91BEA}"/>
              </a:ext>
            </a:extLst>
          </p:cNvPr>
          <p:cNvCxnSpPr>
            <a:cxnSpLocks/>
            <a:stCxn id="44" idx="2"/>
            <a:endCxn id="50" idx="0"/>
          </p:cNvCxnSpPr>
          <p:nvPr/>
        </p:nvCxnSpPr>
        <p:spPr>
          <a:xfrm>
            <a:off x="2751625" y="2176347"/>
            <a:ext cx="3553" cy="4562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FD4BA39-E81E-D52E-922D-2BEB2B0F6E18}"/>
              </a:ext>
            </a:extLst>
          </p:cNvPr>
          <p:cNvCxnSpPr>
            <a:cxnSpLocks/>
            <a:endCxn id="51" idx="0"/>
          </p:cNvCxnSpPr>
          <p:nvPr/>
        </p:nvCxnSpPr>
        <p:spPr>
          <a:xfrm>
            <a:off x="2755178" y="3152119"/>
            <a:ext cx="0" cy="480319"/>
          </a:xfrm>
          <a:prstGeom prst="line">
            <a:avLst/>
          </a:prstGeom>
          <a:ln w="2540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9C6ACFB5-1445-484B-A0AF-34D2F9C62E1F}"/>
              </a:ext>
            </a:extLst>
          </p:cNvPr>
          <p:cNvSpPr/>
          <p:nvPr/>
        </p:nvSpPr>
        <p:spPr>
          <a:xfrm>
            <a:off x="2140662" y="2632639"/>
            <a:ext cx="1229032" cy="53094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GLP-1 receptor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E16600F-12F1-5EAB-14EC-7D2E4482C956}"/>
              </a:ext>
            </a:extLst>
          </p:cNvPr>
          <p:cNvSpPr/>
          <p:nvPr/>
        </p:nvSpPr>
        <p:spPr>
          <a:xfrm>
            <a:off x="2140662" y="3632438"/>
            <a:ext cx="1229032" cy="5309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9F06B-3ECA-055E-F144-22B7E5D4E863}"/>
              </a:ext>
            </a:extLst>
          </p:cNvPr>
          <p:cNvSpPr txBox="1"/>
          <p:nvPr/>
        </p:nvSpPr>
        <p:spPr>
          <a:xfrm>
            <a:off x="193009" y="135231"/>
            <a:ext cx="4646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/>
              <a:t>Scenario 2: Create New </a:t>
            </a:r>
            <a:r>
              <a:rPr lang="en-US" b="1"/>
              <a:t>H</a:t>
            </a:r>
            <a:r>
              <a:rPr lang="en-US" sz="1800" b="1"/>
              <a:t>ypothesis </a:t>
            </a:r>
            <a:endParaRPr lang="en-US" b="1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4D70631-CE41-03A5-51C1-01C0E41C1C89}"/>
              </a:ext>
            </a:extLst>
          </p:cNvPr>
          <p:cNvCxnSpPr>
            <a:cxnSpLocks/>
          </p:cNvCxnSpPr>
          <p:nvPr/>
        </p:nvCxnSpPr>
        <p:spPr>
          <a:xfrm>
            <a:off x="2749848" y="3163581"/>
            <a:ext cx="3553" cy="45629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head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3047CB20-A175-C063-A08B-828A7F601E08}"/>
              </a:ext>
            </a:extLst>
          </p:cNvPr>
          <p:cNvSpPr txBox="1"/>
          <p:nvPr/>
        </p:nvSpPr>
        <p:spPr>
          <a:xfrm>
            <a:off x="10853264" y="699955"/>
            <a:ext cx="9971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9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All  </a:t>
            </a:r>
            <a:r>
              <a:rPr lang="en-US" sz="90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| </a:t>
            </a:r>
            <a:r>
              <a:rPr lang="en-US" sz="90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Favorites</a:t>
            </a:r>
            <a:endParaRPr lang="en-US" sz="90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E88D969E-20A0-1C80-8A35-E0CB2F06D78E}"/>
              </a:ext>
            </a:extLst>
          </p:cNvPr>
          <p:cNvSpPr txBox="1"/>
          <p:nvPr/>
        </p:nvSpPr>
        <p:spPr>
          <a:xfrm>
            <a:off x="5576684" y="741966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 hypothesis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288986E1-5E36-0C8C-D6AB-0D8C3A17830D}"/>
              </a:ext>
            </a:extLst>
          </p:cNvPr>
          <p:cNvSpPr/>
          <p:nvPr/>
        </p:nvSpPr>
        <p:spPr>
          <a:xfrm>
            <a:off x="5649361" y="1898552"/>
            <a:ext cx="2682165" cy="2090889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89A27C3-9043-A644-A57A-F061DDABE019}"/>
              </a:ext>
            </a:extLst>
          </p:cNvPr>
          <p:cNvSpPr/>
          <p:nvPr/>
        </p:nvSpPr>
        <p:spPr>
          <a:xfrm>
            <a:off x="5636315" y="981387"/>
            <a:ext cx="1769490" cy="21756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08887D48-3986-536B-13E1-D3B330345931}"/>
              </a:ext>
            </a:extLst>
          </p:cNvPr>
          <p:cNvSpPr txBox="1"/>
          <p:nvPr/>
        </p:nvSpPr>
        <p:spPr>
          <a:xfrm>
            <a:off x="5667018" y="962357"/>
            <a:ext cx="13310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Ozempic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F278829-8CA2-0590-6329-80F76BC954AC}"/>
              </a:ext>
            </a:extLst>
          </p:cNvPr>
          <p:cNvSpPr txBox="1"/>
          <p:nvPr/>
        </p:nvSpPr>
        <p:spPr>
          <a:xfrm>
            <a:off x="5589153" y="1630893"/>
            <a:ext cx="233318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Request</a:t>
            </a: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0E08A11B-F7C8-7063-D173-CA74643F9E70}"/>
              </a:ext>
            </a:extLst>
          </p:cNvPr>
          <p:cNvSpPr txBox="1"/>
          <p:nvPr/>
        </p:nvSpPr>
        <p:spPr>
          <a:xfrm>
            <a:off x="5670351" y="1897237"/>
            <a:ext cx="2524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(Ozempic) exerts its metabolic and organ-protective effects primarily via activation of GLP-1 receptors in peripheral and central tissues, engaging canonical cAMP/PKA signaling to modulate insulin secretion, appetite, and tissue protection.</a:t>
            </a: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5456F91C-5D3E-FDAD-E0F3-2EDCD576BFCC}"/>
              </a:ext>
            </a:extLst>
          </p:cNvPr>
          <p:cNvSpPr/>
          <p:nvPr/>
        </p:nvSpPr>
        <p:spPr>
          <a:xfrm>
            <a:off x="7491860" y="979245"/>
            <a:ext cx="845973" cy="21970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D12320E4-2AF5-A886-B59D-D98148B181D3}"/>
              </a:ext>
            </a:extLst>
          </p:cNvPr>
          <p:cNvSpPr/>
          <p:nvPr/>
        </p:nvSpPr>
        <p:spPr>
          <a:xfrm>
            <a:off x="5657850" y="1336282"/>
            <a:ext cx="1745248" cy="215927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FC2643B-9407-CB96-E491-DAD2B51AE819}"/>
              </a:ext>
            </a:extLst>
          </p:cNvPr>
          <p:cNvSpPr/>
          <p:nvPr/>
        </p:nvSpPr>
        <p:spPr>
          <a:xfrm>
            <a:off x="7492115" y="1338703"/>
            <a:ext cx="845974" cy="207664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C8BA8FD-1236-9305-C6C0-FE5141912456}"/>
              </a:ext>
            </a:extLst>
          </p:cNvPr>
          <p:cNvSpPr txBox="1"/>
          <p:nvPr/>
        </p:nvSpPr>
        <p:spPr>
          <a:xfrm>
            <a:off x="5657850" y="1312835"/>
            <a:ext cx="8694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New</a:t>
            </a:r>
          </a:p>
        </p:txBody>
      </p:sp>
      <p:sp>
        <p:nvSpPr>
          <p:cNvPr id="169" name="Isosceles Triangle 168">
            <a:extLst>
              <a:ext uri="{FF2B5EF4-FFF2-40B4-BE49-F238E27FC236}">
                <a16:creationId xmlns:a16="http://schemas.microsoft.com/office/drawing/2014/main" id="{1BC51C72-F895-0CCA-CB72-EB4BE82096A1}"/>
              </a:ext>
            </a:extLst>
          </p:cNvPr>
          <p:cNvSpPr/>
          <p:nvPr/>
        </p:nvSpPr>
        <p:spPr>
          <a:xfrm rot="10800000">
            <a:off x="8193837" y="1045438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0" name="Isosceles Triangle 169">
            <a:extLst>
              <a:ext uri="{FF2B5EF4-FFF2-40B4-BE49-F238E27FC236}">
                <a16:creationId xmlns:a16="http://schemas.microsoft.com/office/drawing/2014/main" id="{3AD9C96F-4805-1428-8327-7928AC42FF39}"/>
              </a:ext>
            </a:extLst>
          </p:cNvPr>
          <p:cNvSpPr/>
          <p:nvPr/>
        </p:nvSpPr>
        <p:spPr>
          <a:xfrm rot="10800000">
            <a:off x="8203036" y="1414654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2171423D-1B8D-71AB-7F7F-CF39C619D414}"/>
              </a:ext>
            </a:extLst>
          </p:cNvPr>
          <p:cNvSpPr txBox="1"/>
          <p:nvPr/>
        </p:nvSpPr>
        <p:spPr>
          <a:xfrm>
            <a:off x="7451689" y="982169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drug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9A3E37B-0E3E-E616-87AD-EA79F5488FD8}"/>
              </a:ext>
            </a:extLst>
          </p:cNvPr>
          <p:cNvSpPr txBox="1"/>
          <p:nvPr/>
        </p:nvSpPr>
        <p:spPr>
          <a:xfrm>
            <a:off x="7469761" y="1314303"/>
            <a:ext cx="60132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disease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27976179-2940-CB4E-C19C-171EDE84CA4A}"/>
              </a:ext>
            </a:extLst>
          </p:cNvPr>
          <p:cNvSpPr/>
          <p:nvPr/>
        </p:nvSpPr>
        <p:spPr>
          <a:xfrm>
            <a:off x="7496401" y="412645"/>
            <a:ext cx="845973" cy="18707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 new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59192EE-4FDE-5A3E-F681-A62FE7496DEC}"/>
              </a:ext>
            </a:extLst>
          </p:cNvPr>
          <p:cNvSpPr txBox="1"/>
          <p:nvPr/>
        </p:nvSpPr>
        <p:spPr>
          <a:xfrm>
            <a:off x="5540111" y="343799"/>
            <a:ext cx="150801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Research Panel</a:t>
            </a:r>
            <a:endParaRPr lang="en-US" sz="1050" b="1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45F11BAC-0232-640B-0DD2-E837651A7F07}"/>
              </a:ext>
            </a:extLst>
          </p:cNvPr>
          <p:cNvSpPr txBox="1"/>
          <p:nvPr/>
        </p:nvSpPr>
        <p:spPr>
          <a:xfrm>
            <a:off x="8579493" y="703921"/>
            <a:ext cx="15901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Search results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39FFD092-939F-4907-5521-E50920927558}"/>
              </a:ext>
            </a:extLst>
          </p:cNvPr>
          <p:cNvCxnSpPr>
            <a:cxnSpLocks/>
          </p:cNvCxnSpPr>
          <p:nvPr/>
        </p:nvCxnSpPr>
        <p:spPr>
          <a:xfrm>
            <a:off x="6602758" y="1200482"/>
            <a:ext cx="0" cy="13580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C7C42D0C-660D-FACE-A304-D6235FD797ED}"/>
              </a:ext>
            </a:extLst>
          </p:cNvPr>
          <p:cNvGrpSpPr/>
          <p:nvPr/>
        </p:nvGrpSpPr>
        <p:grpSpPr>
          <a:xfrm rot="2838479">
            <a:off x="11791753" y="402259"/>
            <a:ext cx="113344" cy="117771"/>
            <a:chOff x="2648269" y="5208104"/>
            <a:chExt cx="193061" cy="218661"/>
          </a:xfrm>
        </p:grpSpPr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833B5748-55EA-4B4C-9303-CFD70D54DFDF}"/>
                </a:ext>
              </a:extLst>
            </p:cNvPr>
            <p:cNvCxnSpPr/>
            <p:nvPr/>
          </p:nvCxnSpPr>
          <p:spPr>
            <a:xfrm>
              <a:off x="2749848" y="5208104"/>
              <a:ext cx="0" cy="218661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BB782EB2-BEDB-9768-D170-7E9458CDDA59}"/>
                </a:ext>
              </a:extLst>
            </p:cNvPr>
            <p:cNvCxnSpPr>
              <a:cxnSpLocks/>
            </p:cNvCxnSpPr>
            <p:nvPr/>
          </p:nvCxnSpPr>
          <p:spPr>
            <a:xfrm>
              <a:off x="2648269" y="5321895"/>
              <a:ext cx="193061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6" name="Arrow: Chevron 215">
            <a:extLst>
              <a:ext uri="{FF2B5EF4-FFF2-40B4-BE49-F238E27FC236}">
                <a16:creationId xmlns:a16="http://schemas.microsoft.com/office/drawing/2014/main" id="{5A5611F4-4A3A-F94D-83E0-2D12C56B96DE}"/>
              </a:ext>
            </a:extLst>
          </p:cNvPr>
          <p:cNvSpPr/>
          <p:nvPr/>
        </p:nvSpPr>
        <p:spPr>
          <a:xfrm>
            <a:off x="8113605" y="3833777"/>
            <a:ext cx="132732" cy="92180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0" name="Rectangle: Rounded Corners 219">
            <a:extLst>
              <a:ext uri="{FF2B5EF4-FFF2-40B4-BE49-F238E27FC236}">
                <a16:creationId xmlns:a16="http://schemas.microsoft.com/office/drawing/2014/main" id="{B7F52A6D-564D-FE33-B5F2-395CD7E88E5D}"/>
              </a:ext>
            </a:extLst>
          </p:cNvPr>
          <p:cNvSpPr/>
          <p:nvPr/>
        </p:nvSpPr>
        <p:spPr>
          <a:xfrm>
            <a:off x="11577419" y="44787"/>
            <a:ext cx="378594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B9AD853-947E-EC06-C2BB-654BBD30169F}"/>
              </a:ext>
            </a:extLst>
          </p:cNvPr>
          <p:cNvSpPr/>
          <p:nvPr/>
        </p:nvSpPr>
        <p:spPr>
          <a:xfrm>
            <a:off x="9995025" y="-956"/>
            <a:ext cx="2007869" cy="28616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2" name="Flowchart: Connector 221">
            <a:extLst>
              <a:ext uri="{FF2B5EF4-FFF2-40B4-BE49-F238E27FC236}">
                <a16:creationId xmlns:a16="http://schemas.microsoft.com/office/drawing/2014/main" id="{F9913945-D16C-3D25-4390-EDA7359B4D75}"/>
              </a:ext>
            </a:extLst>
          </p:cNvPr>
          <p:cNvSpPr/>
          <p:nvPr/>
        </p:nvSpPr>
        <p:spPr>
          <a:xfrm>
            <a:off x="11647358" y="49824"/>
            <a:ext cx="168943" cy="170813"/>
          </a:xfrm>
          <a:prstGeom prst="flowChartConnector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Isosceles Triangle 222">
            <a:extLst>
              <a:ext uri="{FF2B5EF4-FFF2-40B4-BE49-F238E27FC236}">
                <a16:creationId xmlns:a16="http://schemas.microsoft.com/office/drawing/2014/main" id="{C6B22D64-02BD-6BFD-269E-C5D6B9396735}"/>
              </a:ext>
            </a:extLst>
          </p:cNvPr>
          <p:cNvSpPr/>
          <p:nvPr/>
        </p:nvSpPr>
        <p:spPr>
          <a:xfrm rot="10800000">
            <a:off x="11842126" y="113580"/>
            <a:ext cx="88228" cy="81353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4" name="Rectangle: Rounded Corners 223">
            <a:extLst>
              <a:ext uri="{FF2B5EF4-FFF2-40B4-BE49-F238E27FC236}">
                <a16:creationId xmlns:a16="http://schemas.microsoft.com/office/drawing/2014/main" id="{8059C902-CDCD-6681-F3CF-5C96D373D9FE}"/>
              </a:ext>
            </a:extLst>
          </p:cNvPr>
          <p:cNvSpPr/>
          <p:nvPr/>
        </p:nvSpPr>
        <p:spPr>
          <a:xfrm>
            <a:off x="11077667" y="48141"/>
            <a:ext cx="507350" cy="190344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</a:t>
            </a:r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36CD8250-13B3-86B8-8B13-4DFA7773A9A1}"/>
              </a:ext>
            </a:extLst>
          </p:cNvPr>
          <p:cNvSpPr/>
          <p:nvPr/>
        </p:nvSpPr>
        <p:spPr>
          <a:xfrm>
            <a:off x="10073005" y="46103"/>
            <a:ext cx="972203" cy="187711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6350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 Panel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054CE7-6FF6-D898-8B35-5AE4EC559DCD}"/>
              </a:ext>
            </a:extLst>
          </p:cNvPr>
          <p:cNvSpPr/>
          <p:nvPr/>
        </p:nvSpPr>
        <p:spPr>
          <a:xfrm>
            <a:off x="8632892" y="982142"/>
            <a:ext cx="2886115" cy="129812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D42B4B-F994-0855-5ED2-B18A62F62D0B}"/>
              </a:ext>
            </a:extLst>
          </p:cNvPr>
          <p:cNvSpPr/>
          <p:nvPr/>
        </p:nvSpPr>
        <p:spPr>
          <a:xfrm>
            <a:off x="11851915" y="990786"/>
            <a:ext cx="88186" cy="5694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966F12-88E0-899A-4AC2-CDCB119A79BB}"/>
              </a:ext>
            </a:extLst>
          </p:cNvPr>
          <p:cNvSpPr/>
          <p:nvPr/>
        </p:nvSpPr>
        <p:spPr>
          <a:xfrm>
            <a:off x="11842126" y="979244"/>
            <a:ext cx="113887" cy="554188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B1B181-F89F-0E3B-BBCB-DB3B610DE8B5}"/>
              </a:ext>
            </a:extLst>
          </p:cNvPr>
          <p:cNvSpPr/>
          <p:nvPr/>
        </p:nvSpPr>
        <p:spPr>
          <a:xfrm>
            <a:off x="11539814" y="982452"/>
            <a:ext cx="251414" cy="12978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E82696-179C-91AF-DD23-22CFA247B18F}"/>
              </a:ext>
            </a:extLst>
          </p:cNvPr>
          <p:cNvSpPr txBox="1"/>
          <p:nvPr/>
        </p:nvSpPr>
        <p:spPr>
          <a:xfrm>
            <a:off x="8630642" y="990786"/>
            <a:ext cx="2848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Nausea / vomiting / diarrhea</a:t>
            </a:r>
          </a:p>
          <a:p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Peptide 1 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…(+5)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A71037-44D2-73BD-A22C-8F6BD4BDADE9}"/>
              </a:ext>
            </a:extLst>
          </p:cNvPr>
          <p:cNvSpPr/>
          <p:nvPr/>
        </p:nvSpPr>
        <p:spPr>
          <a:xfrm>
            <a:off x="8624693" y="2342937"/>
            <a:ext cx="2886115" cy="11952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ACF379-C2D6-96A7-CD1B-8A00ED4F6137}"/>
              </a:ext>
            </a:extLst>
          </p:cNvPr>
          <p:cNvSpPr/>
          <p:nvPr/>
        </p:nvSpPr>
        <p:spPr>
          <a:xfrm>
            <a:off x="11530847" y="2343236"/>
            <a:ext cx="251414" cy="11949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0618CE-6018-687E-A1B2-A3AF2DC18725}"/>
              </a:ext>
            </a:extLst>
          </p:cNvPr>
          <p:cNvSpPr/>
          <p:nvPr/>
        </p:nvSpPr>
        <p:spPr>
          <a:xfrm>
            <a:off x="8616281" y="3605683"/>
            <a:ext cx="2886115" cy="1221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8CC889-9CC1-E8E8-EE2A-313C456FCC61}"/>
              </a:ext>
            </a:extLst>
          </p:cNvPr>
          <p:cNvSpPr/>
          <p:nvPr/>
        </p:nvSpPr>
        <p:spPr>
          <a:xfrm>
            <a:off x="11521651" y="3606402"/>
            <a:ext cx="251414" cy="12206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4276C62-5C5B-D1DC-951C-B5443135B14E}"/>
              </a:ext>
            </a:extLst>
          </p:cNvPr>
          <p:cNvSpPr txBox="1"/>
          <p:nvPr/>
        </p:nvSpPr>
        <p:spPr>
          <a:xfrm>
            <a:off x="8604071" y="2321654"/>
            <a:ext cx="2848498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Delayed gastric emptying / gastroparesis </a:t>
            </a:r>
          </a:p>
          <a:p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aglucagon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like  peptide-1 receptor agonist with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a glucagon like peptide-1 receptor…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604C28-5B76-ACC7-035B-49AB9AAC5BC8}"/>
              </a:ext>
            </a:extLst>
          </p:cNvPr>
          <p:cNvSpPr txBox="1"/>
          <p:nvPr/>
        </p:nvSpPr>
        <p:spPr>
          <a:xfrm>
            <a:off x="8620469" y="3597420"/>
            <a:ext cx="28484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/>
              <a:t>Alzheimer's disease (neuroprotection / cognition) </a:t>
            </a:r>
          </a:p>
          <a:p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Peptide 1 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A… (+3)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CFB9B68-3F08-834F-D84B-72E071D56196}"/>
              </a:ext>
            </a:extLst>
          </p:cNvPr>
          <p:cNvSpPr/>
          <p:nvPr/>
        </p:nvSpPr>
        <p:spPr>
          <a:xfrm>
            <a:off x="10783030" y="3925957"/>
            <a:ext cx="962334" cy="215046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to Board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0A9589-3C7C-4E23-440D-56AAF1DC9158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2732875" y="4163380"/>
            <a:ext cx="4152" cy="370300"/>
          </a:xfrm>
          <a:prstGeom prst="line">
            <a:avLst/>
          </a:prstGeom>
          <a:ln w="25400">
            <a:solidFill>
              <a:srgbClr val="FFC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39D269A-E0A4-49A6-2CB7-72BB811BC3CC}"/>
              </a:ext>
            </a:extLst>
          </p:cNvPr>
          <p:cNvSpPr/>
          <p:nvPr/>
        </p:nvSpPr>
        <p:spPr>
          <a:xfrm>
            <a:off x="2122511" y="4533680"/>
            <a:ext cx="1229032" cy="53094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Alzheimer's disease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374FA1-0850-0B37-6422-279F23949ABF}"/>
              </a:ext>
            </a:extLst>
          </p:cNvPr>
          <p:cNvCxnSpPr>
            <a:cxnSpLocks/>
          </p:cNvCxnSpPr>
          <p:nvPr/>
        </p:nvCxnSpPr>
        <p:spPr>
          <a:xfrm flipH="1">
            <a:off x="3276255" y="4077766"/>
            <a:ext cx="8075594" cy="669887"/>
          </a:xfrm>
          <a:prstGeom prst="line">
            <a:avLst/>
          </a:prstGeom>
          <a:ln w="9525">
            <a:solidFill>
              <a:schemeClr val="accent6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827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44B73F1-9878-0F45-5D9D-C369223E514C}"/>
              </a:ext>
            </a:extLst>
          </p:cNvPr>
          <p:cNvSpPr/>
          <p:nvPr/>
        </p:nvSpPr>
        <p:spPr>
          <a:xfrm>
            <a:off x="2049410" y="2194125"/>
            <a:ext cx="2217790" cy="9967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2">
                    <a:lumMod val="90000"/>
                    <a:lumOff val="10000"/>
                  </a:schemeClr>
                </a:solidFill>
              </a:rPr>
              <a:t>Ozempic</a:t>
            </a:r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ABCBA695-AD09-BA36-5AC0-506D04F46659}"/>
              </a:ext>
            </a:extLst>
          </p:cNvPr>
          <p:cNvSpPr/>
          <p:nvPr/>
        </p:nvSpPr>
        <p:spPr>
          <a:xfrm>
            <a:off x="4104468" y="2250808"/>
            <a:ext cx="94322" cy="102308"/>
          </a:xfrm>
          <a:prstGeom prst="flowChartConnector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B0446-B337-C2C6-3125-DBF612B1E475}"/>
              </a:ext>
            </a:extLst>
          </p:cNvPr>
          <p:cNvSpPr txBox="1"/>
          <p:nvPr/>
        </p:nvSpPr>
        <p:spPr>
          <a:xfrm>
            <a:off x="2719175" y="2944654"/>
            <a:ext cx="15480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/>
              <a:t>15 667 | 81%</a:t>
            </a:r>
            <a:endParaRPr lang="en-US" sz="100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F22C06-961B-2718-680A-DA2D6DFF3500}"/>
              </a:ext>
            </a:extLst>
          </p:cNvPr>
          <p:cNvSpPr/>
          <p:nvPr/>
        </p:nvSpPr>
        <p:spPr>
          <a:xfrm>
            <a:off x="4169702" y="1632882"/>
            <a:ext cx="1353031" cy="25134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b="1">
                <a:solidFill>
                  <a:schemeClr val="tx1"/>
                </a:solidFill>
              </a:rPr>
              <a:t>Details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068EBBD-A74D-92DB-8AA8-DBDB21AD68D0}"/>
              </a:ext>
            </a:extLst>
          </p:cNvPr>
          <p:cNvSpPr/>
          <p:nvPr/>
        </p:nvSpPr>
        <p:spPr>
          <a:xfrm>
            <a:off x="4169702" y="1905739"/>
            <a:ext cx="1338682" cy="251344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000">
                <a:solidFill>
                  <a:schemeClr val="tx1"/>
                </a:solidFill>
              </a:rPr>
              <a:t>...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5407D9-A4CD-D2A8-A452-95FC4F56AEED}"/>
              </a:ext>
            </a:extLst>
          </p:cNvPr>
          <p:cNvSpPr txBox="1"/>
          <p:nvPr/>
        </p:nvSpPr>
        <p:spPr>
          <a:xfrm>
            <a:off x="1306201" y="3644399"/>
            <a:ext cx="154802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/>
              <a:t>Depth score - кол-во релевантных статей на на несколько уровней вглубь, порядок - тысячи.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325700-00A4-6CC3-C734-7018D95E2CB8}"/>
              </a:ext>
            </a:extLst>
          </p:cNvPr>
          <p:cNvSpPr txBox="1"/>
          <p:nvPr/>
        </p:nvSpPr>
        <p:spPr>
          <a:xfrm>
            <a:off x="2816671" y="3717331"/>
            <a:ext cx="135303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/>
              <a:t>Validity score - вероятность того, что гипотеза релевантна и подтверждена, %%.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7B2214-69D8-7067-7A80-8A8976B80690}"/>
              </a:ext>
            </a:extLst>
          </p:cNvPr>
          <p:cNvSpPr txBox="1"/>
          <p:nvPr/>
        </p:nvSpPr>
        <p:spPr>
          <a:xfrm>
            <a:off x="117950" y="1993668"/>
            <a:ext cx="1806099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/>
              <a:t>Статус: уже в тестах у нас или у конкурентов, что запатентован, или, например, запрещён и т.д.. (Всё, что мне подскажет, что сюда копать не надо. Или, наоборот, надо.)</a:t>
            </a:r>
            <a:endParaRPr lang="en-US" sz="1100"/>
          </a:p>
          <a:p>
            <a:r>
              <a:rPr lang="en-US" sz="1100"/>
              <a:t> </a:t>
            </a:r>
            <a:endParaRPr lang="ru-RU" sz="11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9A4076-7C13-33C6-7392-FB98D112E217}"/>
              </a:ext>
            </a:extLst>
          </p:cNvPr>
          <p:cNvSpPr txBox="1"/>
          <p:nvPr/>
        </p:nvSpPr>
        <p:spPr>
          <a:xfrm>
            <a:off x="2421504" y="2731595"/>
            <a:ext cx="147360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/>
              <a:t>FDA Approved, Top Seller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747F997-3FCC-44A9-4C84-DC6361E81AB6}"/>
              </a:ext>
            </a:extLst>
          </p:cNvPr>
          <p:cNvCxnSpPr>
            <a:cxnSpLocks/>
          </p:cNvCxnSpPr>
          <p:nvPr/>
        </p:nvCxnSpPr>
        <p:spPr>
          <a:xfrm flipV="1">
            <a:off x="1924050" y="3166057"/>
            <a:ext cx="1703467" cy="478342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6D6673-DB6E-D0A5-0471-E454FE2352EC}"/>
              </a:ext>
            </a:extLst>
          </p:cNvPr>
          <p:cNvCxnSpPr>
            <a:cxnSpLocks/>
          </p:cNvCxnSpPr>
          <p:nvPr/>
        </p:nvCxnSpPr>
        <p:spPr>
          <a:xfrm flipV="1">
            <a:off x="3276600" y="3146993"/>
            <a:ext cx="719632" cy="585171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F2C6F86-00BA-DD03-6024-358B54933613}"/>
              </a:ext>
            </a:extLst>
          </p:cNvPr>
          <p:cNvSpPr txBox="1"/>
          <p:nvPr/>
        </p:nvSpPr>
        <p:spPr>
          <a:xfrm>
            <a:off x="1797928" y="1151827"/>
            <a:ext cx="195571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/>
              <a:t>New - нотификация о том, что с момента последнего запуска найден новый</a:t>
            </a:r>
            <a:r>
              <a:rPr lang="en-US" sz="1100"/>
              <a:t> </a:t>
            </a:r>
            <a:r>
              <a:rPr lang="ru-RU" sz="1100"/>
              <a:t>источник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1D666A2-DE05-4B0F-2AF2-246B9D0C093B}"/>
              </a:ext>
            </a:extLst>
          </p:cNvPr>
          <p:cNvCxnSpPr>
            <a:cxnSpLocks/>
          </p:cNvCxnSpPr>
          <p:nvPr/>
        </p:nvCxnSpPr>
        <p:spPr>
          <a:xfrm>
            <a:off x="2719175" y="1778482"/>
            <a:ext cx="1318529" cy="448413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4079933-427F-7AF5-AF86-38EA89D1C23B}"/>
              </a:ext>
            </a:extLst>
          </p:cNvPr>
          <p:cNvSpPr/>
          <p:nvPr/>
        </p:nvSpPr>
        <p:spPr>
          <a:xfrm>
            <a:off x="5522733" y="1211800"/>
            <a:ext cx="2593869" cy="131699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A1D547-A2B7-F291-C801-60A4D264241E}"/>
              </a:ext>
            </a:extLst>
          </p:cNvPr>
          <p:cNvSpPr txBox="1"/>
          <p:nvPr/>
        </p:nvSpPr>
        <p:spPr>
          <a:xfrm>
            <a:off x="5620231" y="1211800"/>
            <a:ext cx="2296346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ru-RU" sz="900" b="1"/>
          </a:p>
          <a:p>
            <a:pPr>
              <a:spcAft>
                <a:spcPts val="600"/>
              </a:spcAft>
            </a:pPr>
            <a:r>
              <a:rPr lang="ru-RU" sz="900" b="1"/>
              <a:t>Depth score</a:t>
            </a:r>
            <a:r>
              <a:rPr lang="en-US" sz="900" b="1"/>
              <a:t>: </a:t>
            </a:r>
            <a:r>
              <a:rPr lang="en-US" sz="900"/>
              <a:t>15 667</a:t>
            </a:r>
            <a:endParaRPr lang="ru-RU" sz="900"/>
          </a:p>
          <a:p>
            <a:pPr>
              <a:spcAft>
                <a:spcPts val="600"/>
              </a:spcAft>
            </a:pPr>
            <a:r>
              <a:rPr lang="ru-RU" sz="900" b="1"/>
              <a:t>Validity score</a:t>
            </a:r>
            <a:r>
              <a:rPr lang="en-US" sz="900" b="1"/>
              <a:t>: </a:t>
            </a:r>
            <a:r>
              <a:rPr lang="en-US" sz="900"/>
              <a:t>81</a:t>
            </a:r>
            <a:r>
              <a:rPr lang="ru-RU" sz="900"/>
              <a:t>%</a:t>
            </a:r>
          </a:p>
          <a:p>
            <a:pPr>
              <a:spcAft>
                <a:spcPts val="600"/>
              </a:spcAft>
            </a:pPr>
            <a:r>
              <a:rPr lang="ru-RU" sz="900" b="1"/>
              <a:t>Key take</a:t>
            </a:r>
            <a:r>
              <a:rPr lang="en-US" sz="900" b="1"/>
              <a:t>: </a:t>
            </a:r>
            <a:r>
              <a:rPr lang="ru-RU" sz="900"/>
              <a:t>GLP-1 receptor agonist popular for treatment of Obesity.</a:t>
            </a:r>
          </a:p>
          <a:p>
            <a:pPr>
              <a:spcAft>
                <a:spcPts val="600"/>
              </a:spcAft>
            </a:pPr>
            <a:r>
              <a:rPr lang="en-US" sz="900" b="1"/>
              <a:t>Status: </a:t>
            </a:r>
            <a:r>
              <a:rPr lang="en-US" sz="900"/>
              <a:t>FDA Approved, Top Seller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5A41A1E-B257-21B1-C63B-D8EC7C7EF5BA}"/>
              </a:ext>
            </a:extLst>
          </p:cNvPr>
          <p:cNvSpPr txBox="1"/>
          <p:nvPr/>
        </p:nvSpPr>
        <p:spPr>
          <a:xfrm>
            <a:off x="8369261" y="747173"/>
            <a:ext cx="35466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900"/>
              <a:t>Details</a:t>
            </a:r>
            <a:endParaRPr lang="ru-RU" sz="900"/>
          </a:p>
          <a:p>
            <a:pPr>
              <a:buFont typeface="Arial" panose="020B0604020202020204" pitchFamily="34" charset="0"/>
              <a:buChar char="•"/>
            </a:pPr>
            <a:r>
              <a:rPr lang="ru-RU" sz="900"/>
              <a:t>Depth score - кол-во релевантных статей на на несколько уровней вглубь, порядок - тысячи.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/>
              <a:t>Validity score - вероятность того, что гипотеза релевантна и подтверждена, %%.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/>
              <a:t>New - нотификация о том, что с момента последнего запуска найден новый источник.</a:t>
            </a:r>
          </a:p>
          <a:p>
            <a:pPr>
              <a:buNone/>
            </a:pPr>
            <a:r>
              <a:rPr lang="ru-RU" sz="900"/>
              <a:t>Опционально (предлагаю взять то, что лучше смотрится):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/>
              <a:t>Key take - что это такое и как относится к предыдущему как часть гипотезы. Словами, например для Ozempic: 'GLP-1 receptor agonist popular for treatment of Obesity'.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/>
              <a:t>Category - #disease, #drug, #target + подкатегории нашей базы.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/>
              <a:t>In work - пометка о том, что гипотеза уже в работе у кого-то другого.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900"/>
              <a:t>Progress bar - статус завершения поиска источников для объёмных или неожиданных элементов.</a:t>
            </a:r>
            <a:r>
              <a:rPr lang="en-US" sz="900"/>
              <a:t> - ????</a:t>
            </a:r>
            <a:endParaRPr lang="ru-RU" sz="900"/>
          </a:p>
          <a:p>
            <a:pPr>
              <a:buFont typeface="Arial" panose="020B0604020202020204" pitchFamily="34" charset="0"/>
              <a:buChar char="•"/>
            </a:pPr>
            <a:r>
              <a:rPr lang="ru-RU" sz="900"/>
              <a:t>уже в тестах у нас или у конкурентов, что запатентован, или, например, запрещён. Всё, что мне подскажет, что сюда копать не надо. Или, наоборот, надо.</a:t>
            </a:r>
            <a:endParaRPr lang="en-US" sz="900"/>
          </a:p>
          <a:p>
            <a:pPr>
              <a:buFont typeface="Arial" panose="020B0604020202020204" pitchFamily="34" charset="0"/>
              <a:buChar char="•"/>
            </a:pPr>
            <a:endParaRPr lang="ru-RU" sz="900"/>
          </a:p>
        </p:txBody>
      </p:sp>
      <p:pic>
        <p:nvPicPr>
          <p:cNvPr id="78" name="Graphic 77" descr="Ringer outline">
            <a:extLst>
              <a:ext uri="{FF2B5EF4-FFF2-40B4-BE49-F238E27FC236}">
                <a16:creationId xmlns:a16="http://schemas.microsoft.com/office/drawing/2014/main" id="{6B289593-1EFF-BF92-ED60-2755136C1D4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7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171" y="6323237"/>
            <a:ext cx="191952" cy="191952"/>
          </a:xfrm>
          <a:prstGeom prst="rect">
            <a:avLst/>
          </a:prstGeom>
        </p:spPr>
      </p:pic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ADFDA76-4100-7EE4-18B1-6E34EE406968}"/>
              </a:ext>
            </a:extLst>
          </p:cNvPr>
          <p:cNvCxnSpPr>
            <a:cxnSpLocks/>
          </p:cNvCxnSpPr>
          <p:nvPr/>
        </p:nvCxnSpPr>
        <p:spPr>
          <a:xfrm>
            <a:off x="1444409" y="2861257"/>
            <a:ext cx="1084782" cy="10465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5980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ACE02F6-093A-48E7-3598-C7C3EBBDABC6}"/>
              </a:ext>
            </a:extLst>
          </p:cNvPr>
          <p:cNvSpPr/>
          <p:nvPr/>
        </p:nvSpPr>
        <p:spPr>
          <a:xfrm>
            <a:off x="5048117" y="1203825"/>
            <a:ext cx="2857655" cy="1584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Nausea / vomiting / diarrhea</a:t>
            </a:r>
          </a:p>
          <a:p>
            <a:r>
              <a:rPr lang="en-US" sz="1100">
                <a:solidFill>
                  <a:schemeClr val="tx2">
                    <a:lumMod val="75000"/>
                    <a:lumOff val="25000"/>
                  </a:schemeClr>
                </a:solidFill>
              </a:rPr>
              <a:t>Once-Weekly </a:t>
            </a:r>
            <a:r>
              <a:rPr lang="en-US" sz="1100" err="1">
                <a:solidFill>
                  <a:schemeClr val="tx2">
                    <a:lumMod val="75000"/>
                    <a:lumOff val="25000"/>
                  </a:schemeClr>
                </a:solidFill>
              </a:rPr>
              <a:t>Semaglutide</a:t>
            </a:r>
            <a:r>
              <a:rPr lang="en-US" sz="1100">
                <a:solidFill>
                  <a:schemeClr val="tx2">
                    <a:lumMod val="75000"/>
                    <a:lumOff val="25000"/>
                  </a:schemeClr>
                </a:solidFill>
              </a:rPr>
              <a:t> in Adults with Overweight or Obesity... (+4)</a:t>
            </a:r>
          </a:p>
          <a:p>
            <a:r>
              <a:rPr lang="en-US" sz="900">
                <a:solidFill>
                  <a:schemeClr val="tx1"/>
                </a:solidFill>
              </a:rPr>
              <a:t>Authors </a:t>
            </a:r>
            <a:r>
              <a:rPr lang="en-US" sz="900" err="1">
                <a:solidFill>
                  <a:schemeClr val="tx1"/>
                </a:solidFill>
              </a:rPr>
              <a:t>Authors</a:t>
            </a:r>
            <a:r>
              <a:rPr lang="en-US" sz="900">
                <a:solidFill>
                  <a:schemeClr val="tx1"/>
                </a:solidFill>
              </a:rPr>
              <a:t> </a:t>
            </a:r>
            <a:r>
              <a:rPr lang="en-US" sz="900" err="1">
                <a:solidFill>
                  <a:schemeClr val="tx1"/>
                </a:solidFill>
              </a:rPr>
              <a:t>Authors</a:t>
            </a:r>
            <a:r>
              <a:rPr lang="en-US" sz="900">
                <a:solidFill>
                  <a:schemeClr val="tx1"/>
                </a:solidFill>
              </a:rPr>
              <a:t> </a:t>
            </a:r>
            <a:r>
              <a:rPr lang="en-US" sz="900" err="1">
                <a:solidFill>
                  <a:schemeClr val="tx1"/>
                </a:solidFill>
              </a:rPr>
              <a:t>Authors</a:t>
            </a:r>
            <a:r>
              <a:rPr lang="en-US" sz="900">
                <a:solidFill>
                  <a:schemeClr val="tx1"/>
                </a:solidFill>
              </a:rPr>
              <a:t> </a:t>
            </a:r>
            <a:r>
              <a:rPr lang="en-US" sz="900" err="1">
                <a:solidFill>
                  <a:schemeClr val="tx1"/>
                </a:solidFill>
              </a:rPr>
              <a:t>Authors</a:t>
            </a:r>
            <a:r>
              <a:rPr lang="en-US" sz="900">
                <a:solidFill>
                  <a:schemeClr val="tx1"/>
                </a:solidFill>
              </a:rPr>
              <a:t> </a:t>
            </a:r>
            <a:r>
              <a:rPr lang="en-US" sz="900" err="1">
                <a:solidFill>
                  <a:schemeClr val="tx1"/>
                </a:solidFill>
              </a:rPr>
              <a:t>Authors</a:t>
            </a:r>
            <a:r>
              <a:rPr lang="en-US" sz="900">
                <a:solidFill>
                  <a:schemeClr val="tx1"/>
                </a:solidFill>
              </a:rPr>
              <a:t> </a:t>
            </a:r>
            <a:r>
              <a:rPr lang="en-US" sz="900" err="1">
                <a:solidFill>
                  <a:schemeClr val="tx1"/>
                </a:solidFill>
              </a:rPr>
              <a:t>Authors</a:t>
            </a:r>
            <a:r>
              <a:rPr lang="en-US" sz="900">
                <a:solidFill>
                  <a:schemeClr val="tx1"/>
                </a:solidFill>
              </a:rPr>
              <a:t> </a:t>
            </a:r>
            <a:r>
              <a:rPr lang="en-US" sz="900" err="1">
                <a:solidFill>
                  <a:schemeClr val="tx1"/>
                </a:solidFill>
              </a:rPr>
              <a:t>Authors</a:t>
            </a:r>
            <a:r>
              <a:rPr lang="en-US" sz="900">
                <a:solidFill>
                  <a:schemeClr val="tx1"/>
                </a:solidFill>
              </a:rPr>
              <a:t>..</a:t>
            </a:r>
          </a:p>
          <a:p>
            <a:r>
              <a:rPr lang="en-US" sz="900">
                <a:solidFill>
                  <a:schemeClr val="tx1"/>
                </a:solidFill>
              </a:rPr>
              <a:t>Summary</a:t>
            </a:r>
          </a:p>
          <a:p>
            <a:r>
              <a:rPr lang="en-US" sz="900">
                <a:solidFill>
                  <a:schemeClr val="tx1"/>
                </a:solidFill>
              </a:rPr>
              <a:t>Summary</a:t>
            </a:r>
          </a:p>
          <a:p>
            <a:endParaRPr lang="en-US" sz="900">
              <a:solidFill>
                <a:schemeClr val="tx1"/>
              </a:solidFill>
            </a:endParaRPr>
          </a:p>
          <a:p>
            <a:r>
              <a:rPr lang="en-US" sz="900">
                <a:solidFill>
                  <a:schemeClr val="tx1"/>
                </a:solidFill>
              </a:rPr>
              <a:t>PubMed | </a:t>
            </a:r>
            <a:r>
              <a:rPr lang="en-US" sz="900" err="1">
                <a:solidFill>
                  <a:schemeClr val="tx1"/>
                </a:solidFill>
              </a:rPr>
              <a:t>vbdjh</a:t>
            </a:r>
            <a:r>
              <a:rPr lang="en-US" sz="900">
                <a:solidFill>
                  <a:schemeClr val="tx1"/>
                </a:solidFill>
              </a:rPr>
              <a:t> | 12.12.2020</a:t>
            </a:r>
          </a:p>
          <a:p>
            <a:r>
              <a:rPr lang="en-US" sz="900">
                <a:solidFill>
                  <a:schemeClr val="tx1"/>
                </a:solidFill>
              </a:rPr>
              <a:t>RS 98%| Case study| Similar 2563| Cited by 35643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30ACD6-95C7-C630-D684-00FE7E95AE81}"/>
              </a:ext>
            </a:extLst>
          </p:cNvPr>
          <p:cNvSpPr/>
          <p:nvPr/>
        </p:nvSpPr>
        <p:spPr>
          <a:xfrm>
            <a:off x="7921494" y="1203825"/>
            <a:ext cx="291470" cy="15846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5A03C5-C466-97B1-0065-7ABDDF4EAA16}"/>
              </a:ext>
            </a:extLst>
          </p:cNvPr>
          <p:cNvSpPr txBox="1"/>
          <p:nvPr/>
        </p:nvSpPr>
        <p:spPr>
          <a:xfrm>
            <a:off x="444027" y="776287"/>
            <a:ext cx="40713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000"/>
              <a:t>Пример параметров карточки - результата поиска: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Key Publication name + interactive hyperlink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Key quotation or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Authors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Publication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Database (PubMed)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Number of similar publications (supporting the same hypothesis), interactive, leading to the publications list.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Relevancy score, e.g. 'Supports: 80%'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Validity score by evidence validity pyramid (</a:t>
            </a:r>
            <a:r>
              <a:rPr lang="en-US" sz="1000">
                <a:hlinkClick r:id="rId2" tooltip="https://guides.library.ucdavis.edu/systematic-reviews/levels-of-evidence#:~:text=the%20hierarchy%20of%20evidence%20(also,the%20base%20of%20the%20pyramid."/>
              </a:rPr>
              <a:t>https://guides.library.ucdavis.edu/systematic-reviews/levels-of-evidence#:~:text=The%20hierarchy%20…</a:t>
            </a:r>
            <a:r>
              <a:rPr lang="en-US" sz="1000"/>
              <a:t>), e.g. 'case study'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Sample, e.g. humans, 20-35 </a:t>
            </a:r>
            <a:r>
              <a:rPr lang="en-US" sz="1000" err="1"/>
              <a:t>yo</a:t>
            </a:r>
            <a:r>
              <a:rPr lang="en-US" sz="1000"/>
              <a:t>, </a:t>
            </a:r>
            <a:r>
              <a:rPr lang="en-US" sz="1000" err="1"/>
              <a:t>US+Africa+AP</a:t>
            </a:r>
            <a:endParaRPr lang="en-US" sz="1000"/>
          </a:p>
          <a:p>
            <a:pPr>
              <a:buFont typeface="Arial" panose="020B0604020202020204" pitchFamily="34" charset="0"/>
              <a:buChar char="•"/>
            </a:pPr>
            <a:r>
              <a:rPr lang="en-US" sz="1000"/>
              <a:t>Cited by (number)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364FA2-432C-9F21-038C-66BCE2C3D7CD}"/>
              </a:ext>
            </a:extLst>
          </p:cNvPr>
          <p:cNvSpPr/>
          <p:nvPr/>
        </p:nvSpPr>
        <p:spPr>
          <a:xfrm>
            <a:off x="5182641" y="3686175"/>
            <a:ext cx="2725789" cy="158468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76BEF8-DF11-E293-0D61-B3432CE94E7C}"/>
              </a:ext>
            </a:extLst>
          </p:cNvPr>
          <p:cNvSpPr/>
          <p:nvPr/>
        </p:nvSpPr>
        <p:spPr>
          <a:xfrm>
            <a:off x="7950057" y="3686175"/>
            <a:ext cx="251414" cy="1584683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7C3C1B-24EB-ADFB-F8E6-5FFCB8E4A39B}"/>
              </a:ext>
            </a:extLst>
          </p:cNvPr>
          <p:cNvSpPr txBox="1"/>
          <p:nvPr/>
        </p:nvSpPr>
        <p:spPr>
          <a:xfrm>
            <a:off x="5275538" y="3719190"/>
            <a:ext cx="26060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An Oral Glucagon‐Like Peptide 1 A Review on </a:t>
            </a:r>
            <a:r>
              <a:rPr lang="en-US" sz="800" err="1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Semaglutide</a:t>
            </a:r>
            <a:r>
              <a:rPr lang="en-US" sz="8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A… (+3)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Authors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Authors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..</a:t>
            </a:r>
          </a:p>
          <a:p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Summary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800" err="1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  <a:r>
              <a:rPr lang="en-US" sz="8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endParaRPr lang="en-US" sz="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PubMed | Springer | 12.12.2020</a:t>
            </a:r>
          </a:p>
          <a:p>
            <a:r>
              <a:rPr lang="en-US" sz="80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RS 98%| Case study| Similar 2563| Cited by 35643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34DAD5-D62E-3EC9-8B4F-D5A0EB2C0BDD}"/>
              </a:ext>
            </a:extLst>
          </p:cNvPr>
          <p:cNvSpPr txBox="1"/>
          <p:nvPr/>
        </p:nvSpPr>
        <p:spPr>
          <a:xfrm>
            <a:off x="646071" y="3761349"/>
            <a:ext cx="24837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tx2">
                    <a:lumMod val="75000"/>
                    <a:lumOff val="25000"/>
                  </a:schemeClr>
                </a:solidFill>
              </a:rPr>
              <a:t>Once-Weekly </a:t>
            </a:r>
            <a:r>
              <a:rPr lang="en-US" sz="1000" err="1">
                <a:solidFill>
                  <a:schemeClr val="tx2">
                    <a:lumMod val="75000"/>
                    <a:lumOff val="25000"/>
                  </a:schemeClr>
                </a:solidFill>
              </a:rPr>
              <a:t>Semaglutide</a:t>
            </a:r>
            <a:r>
              <a:rPr lang="en-US" sz="1000">
                <a:solidFill>
                  <a:schemeClr val="tx2">
                    <a:lumMod val="75000"/>
                    <a:lumOff val="25000"/>
                  </a:schemeClr>
                </a:solidFill>
              </a:rPr>
              <a:t> in Adults with Overweight or Obesity...</a:t>
            </a:r>
          </a:p>
          <a:p>
            <a:r>
              <a:rPr lang="en-US" sz="1000">
                <a:solidFill>
                  <a:schemeClr val="tx1"/>
                </a:solidFill>
              </a:rPr>
              <a:t>Authors </a:t>
            </a:r>
            <a:r>
              <a:rPr lang="en-US" sz="1000" err="1">
                <a:solidFill>
                  <a:schemeClr val="tx1"/>
                </a:solidFill>
              </a:rPr>
              <a:t>Authors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Authors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Authors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Authors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Authors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Authors</a:t>
            </a:r>
            <a:r>
              <a:rPr lang="en-US" sz="1000">
                <a:solidFill>
                  <a:schemeClr val="tx1"/>
                </a:solidFill>
              </a:rPr>
              <a:t> </a:t>
            </a:r>
            <a:r>
              <a:rPr lang="en-US" sz="1000" err="1">
                <a:solidFill>
                  <a:schemeClr val="tx1"/>
                </a:solidFill>
              </a:rPr>
              <a:t>Authors</a:t>
            </a:r>
            <a:r>
              <a:rPr lang="en-US" sz="1000">
                <a:solidFill>
                  <a:schemeClr val="tx1"/>
                </a:solidFill>
              </a:rPr>
              <a:t>..</a:t>
            </a:r>
          </a:p>
          <a:p>
            <a:r>
              <a:rPr lang="en-US" sz="1000">
                <a:solidFill>
                  <a:schemeClr val="tx1"/>
                </a:solidFill>
              </a:rPr>
              <a:t>Summary</a:t>
            </a:r>
          </a:p>
          <a:p>
            <a:r>
              <a:rPr lang="en-US" sz="1000">
                <a:solidFill>
                  <a:schemeClr val="tx1"/>
                </a:solidFill>
              </a:rPr>
              <a:t>Summary</a:t>
            </a:r>
          </a:p>
          <a:p>
            <a:endParaRPr lang="en-US" sz="1000">
              <a:solidFill>
                <a:schemeClr val="tx1"/>
              </a:solidFill>
            </a:endParaRPr>
          </a:p>
          <a:p>
            <a:r>
              <a:rPr lang="en-US" sz="1000">
                <a:solidFill>
                  <a:schemeClr val="tx1"/>
                </a:solidFill>
              </a:rPr>
              <a:t>PubMed | </a:t>
            </a:r>
            <a:r>
              <a:rPr lang="en-US" sz="1000" err="1">
                <a:solidFill>
                  <a:schemeClr val="tx1"/>
                </a:solidFill>
              </a:rPr>
              <a:t>vbdjh</a:t>
            </a:r>
            <a:r>
              <a:rPr lang="en-US" sz="1000">
                <a:solidFill>
                  <a:schemeClr val="tx1"/>
                </a:solidFill>
              </a:rPr>
              <a:t> | 12.12.2020</a:t>
            </a:r>
          </a:p>
          <a:p>
            <a:r>
              <a:rPr lang="en-US" sz="1000">
                <a:solidFill>
                  <a:schemeClr val="tx1"/>
                </a:solidFill>
              </a:rPr>
              <a:t>RS 98%| Case study| Similar 2563| Cited by 35643</a:t>
            </a:r>
          </a:p>
        </p:txBody>
      </p:sp>
    </p:spTree>
    <p:extLst>
      <p:ext uri="{BB962C8B-B14F-4D97-AF65-F5344CB8AC3E}">
        <p14:creationId xmlns:p14="http://schemas.microsoft.com/office/powerpoint/2010/main" val="4201244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1714</Words>
  <Application>Microsoft Office PowerPoint</Application>
  <PresentationFormat>Widescreen</PresentationFormat>
  <Paragraphs>274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Делаем V1.2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Natalia Kirillova</dc:creator>
  <cp:lastModifiedBy>Siarhei Naralenkau</cp:lastModifiedBy>
  <cp:revision>5</cp:revision>
  <dcterms:created xsi:type="dcterms:W3CDTF">2025-10-23T08:49:18Z</dcterms:created>
  <dcterms:modified xsi:type="dcterms:W3CDTF">2025-11-19T11:54:38Z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535040-0af2-483f-adc3-a132c21e3e2b_Enabled">
    <vt:lpwstr>true</vt:lpwstr>
  </property>
  <property fmtid="{D5CDD505-2E9C-101B-9397-08002B2CF9AE}" pid="3" name="MSIP_Label_2a535040-0af2-483f-adc3-a132c21e3e2b_SetDate">
    <vt:lpwstr>2025-10-27T16:48:32Z</vt:lpwstr>
  </property>
  <property fmtid="{D5CDD505-2E9C-101B-9397-08002B2CF9AE}" pid="4" name="MSIP_Label_2a535040-0af2-483f-adc3-a132c21e3e2b_Method">
    <vt:lpwstr>Standard</vt:lpwstr>
  </property>
  <property fmtid="{D5CDD505-2E9C-101B-9397-08002B2CF9AE}" pid="5" name="MSIP_Label_2a535040-0af2-483f-adc3-a132c21e3e2b_Name">
    <vt:lpwstr>EPAM_Confidential</vt:lpwstr>
  </property>
  <property fmtid="{D5CDD505-2E9C-101B-9397-08002B2CF9AE}" pid="6" name="MSIP_Label_2a535040-0af2-483f-adc3-a132c21e3e2b_SiteId">
    <vt:lpwstr>b41b72d0-4e9f-4c26-8a69-f949f367c91d</vt:lpwstr>
  </property>
  <property fmtid="{D5CDD505-2E9C-101B-9397-08002B2CF9AE}" pid="7" name="MSIP_Label_2a535040-0af2-483f-adc3-a132c21e3e2b_ActionId">
    <vt:lpwstr>3b0f484c-c4c4-4c1c-9d89-287b535cc7c2</vt:lpwstr>
  </property>
  <property fmtid="{D5CDD505-2E9C-101B-9397-08002B2CF9AE}" pid="8" name="MSIP_Label_2a535040-0af2-483f-adc3-a132c21e3e2b_ContentBits">
    <vt:lpwstr>0</vt:lpwstr>
  </property>
  <property fmtid="{D5CDD505-2E9C-101B-9397-08002B2CF9AE}" pid="9" name="MSIP_Label_2a535040-0af2-483f-adc3-a132c21e3e2b_Tag">
    <vt:lpwstr>10, 3, 0, 1</vt:lpwstr>
  </property>
</Properties>
</file>